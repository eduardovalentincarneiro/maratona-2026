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2011680" cy="2011680"/>
          </a:xfrm>
          <a:prstGeom prst="ellipse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286000"/>
            <a:ext cx="1188720" cy="1188720"/>
          </a:xfrm>
          <a:prstGeom prst="ellipse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3108960"/>
            <a:ext cx="1005840" cy="1005840"/>
          </a:xfrm>
          <a:prstGeom prst="ellipse">
            <a:avLst/>
          </a:prstGeom>
          <a:solidFill>
            <a:srgbClr val="FF6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4023360"/>
            <a:ext cx="1828800" cy="1828800"/>
          </a:xfrm>
          <a:prstGeom prst="ellipse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0" y="5303520"/>
            <a:ext cx="640080" cy="640080"/>
          </a:xfrm>
          <a:prstGeom prst="ellipse">
            <a:avLst/>
          </a:prstGeom>
          <a:solidFill>
            <a:srgbClr val="5A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6DAE0"/>
                </a:solidFill>
                <a:latin typeface="Aptos"/>
              </a:defRPr>
            </a:pPr>
            <a:r>
              <a:t>MARATONA TECH 2026  •  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4F8FF"/>
                </a:solidFill>
                <a:latin typeface="Aptos"/>
              </a:defRPr>
            </a:pPr>
            <a:r>
              <a:t>DEEPFAKES</a:t>
            </a:r>
          </a:p>
          <a:p>
            <a:pPr>
              <a:spcAft>
                <a:spcPts val="500"/>
              </a:spcAft>
              <a:defRPr sz="3600" b="1">
                <a:solidFill>
                  <a:srgbClr val="F4F8FF"/>
                </a:solidFill>
                <a:latin typeface="Aptos"/>
              </a:defRPr>
            </a:pPr>
            <a:r>
              <a:t>E DESINFORMAÇÃO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429000"/>
            <a:ext cx="7040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ADBED7"/>
                </a:solidFill>
                <a:latin typeface="Aptos"/>
              </a:defRPr>
            </a:pPr>
            <a:r>
              <a:t>Quando a inteligência artificial pode</a:t>
            </a:r>
          </a:p>
          <a:p>
            <a:pPr>
              <a:spcAft>
                <a:spcPts val="500"/>
              </a:spcAft>
              <a:defRPr sz="2100" b="0">
                <a:solidFill>
                  <a:srgbClr val="ADBED7"/>
                </a:solidFill>
                <a:latin typeface="Aptos"/>
              </a:defRPr>
            </a:pPr>
            <a:r>
              <a:t>manipular o que parece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7223760" cy="658368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56048"/>
            <a:ext cx="6812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36DAE0"/>
                </a:solidFill>
                <a:latin typeface="Aptos"/>
              </a:defRPr>
            </a:pPr>
            <a:r>
              <a:t>PARE  •  VERIFIQUE  •  PENSE  •  COMPARTILHE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8978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4F8FF"/>
                </a:solidFill>
                <a:latin typeface="Aptos"/>
              </a:defRPr>
            </a:pPr>
            <a:r>
              <a:t>Colégio Estadual Marechal Costa e Silva  |  Cidade Gaúcha – PR  |  3º ano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6245352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ED7"/>
                </a:solidFill>
                <a:latin typeface="Aptos"/>
              </a:defRPr>
            </a:pPr>
            <a:r>
              <a:t>Equipe: Eduardo Valentin Carneiro • Luiz Gabriel Alves dos Santos • Thiago Henrique Malta Garcia</a:t>
            </a:r>
          </a:p>
          <a:p>
            <a:pPr>
              <a:spcAft>
                <a:spcPts val="500"/>
              </a:spcAft>
              <a:defRPr sz="900" b="0">
                <a:solidFill>
                  <a:srgbClr val="ADBED7"/>
                </a:solidFill>
                <a:latin typeface="Aptos"/>
              </a:defRPr>
            </a:pPr>
            <a:r>
              <a:t>Felype Justino da Silva • Paulo Ricardo Nunes da Silva • Adryan Vinicius de Almeida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01 • 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Um vídeo pode parecer prova. Mas será?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Deepfakes são conteúdos de imagem, vídeo ou áudio alterados ou gerados por inteligência artificial.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64008" cy="324612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23160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AE0"/>
                </a:solidFill>
                <a:latin typeface="Aptos"/>
              </a:defRPr>
            </a:pPr>
            <a:r>
              <a:t>O que está em jogo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907792"/>
            <a:ext cx="3035808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4F8FF"/>
                </a:solidFill>
                <a:latin typeface="Aptos"/>
              </a:defRPr>
            </a:pPr>
            <a:r>
              <a:t>Uma pessoa pode parecer dizer ou fazer algo que nunca aconteceu.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40280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240280"/>
            <a:ext cx="64008" cy="3246120"/>
          </a:xfrm>
          <a:prstGeom prst="rect">
            <a:avLst/>
          </a:prstGeom>
          <a:solidFill>
            <a:srgbClr val="FF6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423160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6960"/>
                </a:solidFill>
                <a:latin typeface="Aptos"/>
              </a:defRPr>
            </a:pPr>
            <a:r>
              <a:t>Por que importa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907792"/>
            <a:ext cx="3035808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4F8FF"/>
                </a:solidFill>
                <a:latin typeface="Aptos"/>
              </a:defRPr>
            </a:pPr>
            <a:r>
              <a:t>O conteúdo pode enganar, prejudicar reputações e influenciar decisões.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240280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240280"/>
            <a:ext cx="64008" cy="3246120"/>
          </a:xfrm>
          <a:prstGeom prst="rect">
            <a:avLst/>
          </a:prstGeom>
          <a:solidFill>
            <a:srgbClr val="5A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2423160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E0AA"/>
                </a:solidFill>
                <a:latin typeface="Aptos"/>
              </a:defRPr>
            </a:pPr>
            <a:r>
              <a:t>O desafio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907792"/>
            <a:ext cx="3035808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4F8FF"/>
                </a:solidFill>
                <a:latin typeface="Aptos"/>
              </a:defRPr>
            </a:pPr>
            <a:r>
              <a:t>Reconhecer sinais, confirmar a origem e reduzir o compartilhamento impulsivo.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02 • COMO CIRCULA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Da criação ao compartilhamento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A manipulação pode ganhar alcance quando é publicada sem contexto e replicada por muitas pessoas.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1243584" y="2331720"/>
            <a:ext cx="585216" cy="585216"/>
          </a:xfrm>
          <a:prstGeom prst="ellipse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2487168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C183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27248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DADOS E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FERRAMENTAS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88620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DBED7"/>
                </a:solidFill>
                <a:latin typeface="Aptos"/>
              </a:defRPr>
            </a:pPr>
            <a:r>
              <a:t>Imagens, voz e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245059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36DA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3557016" y="2331720"/>
            <a:ext cx="585216" cy="585216"/>
          </a:xfrm>
          <a:prstGeom prst="ellipse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2487168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C183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3127248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CONTEÚDO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ALTERADO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388620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DBED7"/>
                </a:solidFill>
                <a:latin typeface="Aptos"/>
              </a:defRPr>
            </a:pPr>
            <a:r>
              <a:t>Corte, edição ou síntese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45059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36DA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870447" y="2331720"/>
            <a:ext cx="585216" cy="585216"/>
          </a:xfrm>
          <a:prstGeom prst="ellipse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0447" y="2487168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C183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5" y="3127248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PUBLICAÇÃO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5" y="388620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DBED7"/>
                </a:solidFill>
                <a:latin typeface="Aptos"/>
              </a:defRPr>
            </a:pPr>
            <a:r>
              <a:t>Legenda provoca reação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245059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36DA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8183879" y="2331720"/>
            <a:ext cx="585216" cy="585216"/>
          </a:xfrm>
          <a:prstGeom prst="ellipse">
            <a:avLst/>
          </a:prstGeom>
          <a:solidFill>
            <a:srgbClr val="FF6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2487168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C183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3127248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RECOMENDAÇÃO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388620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DBED7"/>
                </a:solidFill>
                <a:latin typeface="Aptos"/>
              </a:defRPr>
            </a:pPr>
            <a:r>
              <a:t>Interações ampliam alcance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7" y="245059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36DA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10497311" y="2331720"/>
            <a:ext cx="585216" cy="585216"/>
          </a:xfrm>
          <a:prstGeom prst="ellipse">
            <a:avLst/>
          </a:prstGeom>
          <a:solidFill>
            <a:srgbClr val="FF6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7311" y="2487168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C183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3127248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COMPARTILHAMENTO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388620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DBED7"/>
                </a:solidFill>
                <a:latin typeface="Aptos"/>
              </a:defRPr>
            </a:pPr>
            <a:r>
              <a:t>Pessoas repassam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74920"/>
            <a:ext cx="10698480" cy="59436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257800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8FF"/>
                </a:solidFill>
                <a:latin typeface="Aptos"/>
              </a:defRPr>
            </a:pPr>
            <a:r>
              <a:t>Algoritmos podem recomendar conteúdos com base em sinais de interesse; isso pode ajudar a ampliar a circulação, mas não prova que um vídeo seja verdadeiro.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03 • ANÁLISE DO ARTEFATO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Estudo de caso: um vídeo sem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Exemplo hipotético para análise — não representa uma pessoa ou acontecimento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0280"/>
            <a:ext cx="4800600" cy="3401568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4160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6960"/>
                </a:solidFill>
                <a:latin typeface="Aptos"/>
              </a:defRPr>
            </a:pPr>
            <a:r>
              <a:t>“URGENTE: autoridade anuncia</a:t>
            </a:r>
          </a:p>
          <a:p>
            <a:pPr>
              <a:spcAft>
                <a:spcPts val="500"/>
              </a:spcAft>
              <a:defRPr sz="2300" b="1">
                <a:solidFill>
                  <a:srgbClr val="FF6960"/>
                </a:solidFill>
                <a:latin typeface="Aptos"/>
              </a:defRPr>
            </a:pPr>
            <a:r>
              <a:t>medida chocante”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05072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t>Vídeo curto, sem data ou link da gravação completa. O áudio parece estranho e a legenda pede compartilhamento imediato.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240280"/>
            <a:ext cx="5440680" cy="1024128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0" y="2240280"/>
            <a:ext cx="64008" cy="1024128"/>
          </a:xfrm>
          <a:prstGeom prst="rect">
            <a:avLst/>
          </a:prstGeom>
          <a:solidFill>
            <a:srgbClr val="FF6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4456" y="2423160"/>
            <a:ext cx="5001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6960"/>
                </a:solidFill>
                <a:latin typeface="Aptos"/>
              </a:defRPr>
            </a:pPr>
            <a:r>
              <a:t>Sinal de alerta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6" y="2907792"/>
            <a:ext cx="5001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Urgência + ausência de fonte verificável.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456432"/>
            <a:ext cx="5440680" cy="1024128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3456432"/>
            <a:ext cx="64008" cy="1024128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34456" y="3639312"/>
            <a:ext cx="5001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AE0"/>
                </a:solidFill>
                <a:latin typeface="Aptos"/>
              </a:defRPr>
            </a:pPr>
            <a:r>
              <a:t>O que ainda não sabemos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4456" y="4123944"/>
            <a:ext cx="5001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Quem publicou? Quando? Há versão completa?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4672584"/>
            <a:ext cx="5440680" cy="1024128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0" y="4672584"/>
            <a:ext cx="64008" cy="1024128"/>
          </a:xfrm>
          <a:prstGeom prst="rect">
            <a:avLst/>
          </a:prstGeom>
          <a:solidFill>
            <a:srgbClr val="5A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34456" y="4855464"/>
            <a:ext cx="5001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E0AA"/>
                </a:solidFill>
                <a:latin typeface="Aptos"/>
              </a:defRPr>
            </a:pPr>
            <a:r>
              <a:t>Conclusão responsável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4456" y="5340096"/>
            <a:ext cx="5001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Indício não é prova. Investigue antes de afirmar.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04 • DADOS E IMPACTOS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Por que deepfakes podem convencer?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Imagens, vídeos e gravações públicas podem ser usados para imitar aparência e voz.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0280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240280"/>
            <a:ext cx="64008" cy="324612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423160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AE0"/>
                </a:solidFill>
                <a:latin typeface="Aptos"/>
              </a:defRPr>
            </a:pPr>
            <a:r>
              <a:t>Rastro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07792"/>
            <a:ext cx="3035808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t>Fotos, vídeos e áudios publicados ajudam a compor a presença de uma pessoa na rede.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240280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2240280"/>
            <a:ext cx="64008" cy="3246120"/>
          </a:xfrm>
          <a:prstGeom prst="rect">
            <a:avLst/>
          </a:prstGeom>
          <a:solidFill>
            <a:srgbClr val="FF6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423160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6960"/>
                </a:solidFill>
                <a:latin typeface="Aptos"/>
              </a:defRPr>
            </a:pPr>
            <a:r>
              <a:t>Uso indevido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907792"/>
            <a:ext cx="3035808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t>A semelhança pode ser usada sem consentimento para enganar ou constranger.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240280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2240280"/>
            <a:ext cx="64008" cy="3246120"/>
          </a:xfrm>
          <a:prstGeom prst="rect">
            <a:avLst/>
          </a:prstGeom>
          <a:solidFill>
            <a:srgbClr val="5A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423160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E0AA"/>
                </a:solidFill>
                <a:latin typeface="Aptos"/>
              </a:defRPr>
            </a:pPr>
            <a:r>
              <a:t>Consequências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907792"/>
            <a:ext cx="3035808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4F8FF"/>
                </a:solidFill>
                <a:latin typeface="Aptos"/>
              </a:defRPr>
            </a:pPr>
            <a:r>
              <a:t>Danos à reputação, golpes, assédio e desconfiança sobre conteúdos verdadeiros.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05 • CAUSA DO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A tecnologia é só uma parte da história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A desinformação se fortalece quando conteúdo convincente encontra pressa, pouca verificação e ampla circulação.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64008" cy="123444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68880"/>
            <a:ext cx="47731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AE0"/>
                </a:solidFill>
                <a:latin typeface="Aptos"/>
              </a:defRPr>
            </a:pPr>
            <a:r>
              <a:t>FERRAMENTAS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53512"/>
            <a:ext cx="4773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IA facilita criar ou alterar conteúdos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8600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64008" cy="1234440"/>
          </a:xfrm>
          <a:prstGeom prst="rect">
            <a:avLst/>
          </a:prstGeom>
          <a:solidFill>
            <a:srgbClr val="FF6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468880"/>
            <a:ext cx="47731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6960"/>
                </a:solidFill>
                <a:latin typeface="Aptos"/>
              </a:defRPr>
            </a:pPr>
            <a:r>
              <a:t>INTENÇÃO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953512"/>
            <a:ext cx="4773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Alguém usa o material para enganar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64008" cy="1234440"/>
          </a:xfrm>
          <a:prstGeom prst="rect">
            <a:avLst/>
          </a:prstGeom>
          <a:solidFill>
            <a:srgbClr val="5A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69080"/>
            <a:ext cx="47731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E0AA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553712"/>
            <a:ext cx="4773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Legenda omite origem ou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88620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64008" cy="123444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4069080"/>
            <a:ext cx="47731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AE0"/>
                </a:solidFill>
                <a:latin typeface="Aptos"/>
              </a:defRPr>
            </a:pPr>
            <a:r>
              <a:t>DINÂMICA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553712"/>
            <a:ext cx="4773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Reações e repasses aceleram a difusão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4241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t>Resposta: combinar educação midiática, proteção de dados e responsabilidade de quem cria e compartilha.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06 • COMO ANALISAR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Quatro perguntas antes de concluir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Uma checagem simples ajuda a separar suspeita de evidência.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5230368" cy="12344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414015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36DAE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957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ORIGEM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8072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Quem publicou? Existe fonte original?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94560"/>
            <a:ext cx="5230368" cy="12344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2414015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36DAE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957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8072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Quando e onde foi gravado? Há versão completa?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67328"/>
            <a:ext cx="5230368" cy="12344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986784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36DAE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96849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CONFIRMAÇÃO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7997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Outras fontes confiáveis confirmam?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67328"/>
            <a:ext cx="5230368" cy="12344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986784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36DAE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4F8FF"/>
                </a:solidFill>
                <a:latin typeface="Aptos"/>
              </a:defRPr>
            </a:pPr>
            <a:r>
              <a:t>EVIDÊNCIA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37997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Há sinais consistentes ou só impressão?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623560"/>
            <a:ext cx="10149840" cy="521207"/>
          </a:xfrm>
          <a:prstGeom prst="roundRect">
            <a:avLst>
              <a:gd name="adj" fmla="val 12000"/>
            </a:avLst>
          </a:prstGeom>
          <a:solidFill>
            <a:srgbClr val="FF6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779008"/>
            <a:ext cx="9692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C1830"/>
                </a:solidFill>
                <a:latin typeface="Aptos"/>
              </a:defRPr>
            </a:pPr>
            <a:r>
              <a:t>Não conclua que é falso só porque “parece estranho”. Verifique a procedência.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07 • RECOMENDAÇÕES PÚBLICAS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PARE. VERIFIQUE. PENSE. COMPARTILHE.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Um guia rápido para agir com responsabilidade diante de um vídeo suspeito.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87168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78892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F6960"/>
                </a:solidFill>
                <a:latin typeface="Aptos"/>
              </a:defRPr>
            </a:pPr>
            <a:r>
              <a:t>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20440"/>
            <a:ext cx="2121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Não repasse no impulso.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2487168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278892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36DAE0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520440"/>
            <a:ext cx="2121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Busque a fonte original e a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2487168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5" y="278892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5AE0AA"/>
                </a:solidFill>
                <a:latin typeface="Aptos"/>
              </a:defRPr>
            </a:pPr>
            <a:r>
              <a:t>PENSE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3520440"/>
            <a:ext cx="2121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Compare com fontes confiáveis.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2487168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0616" y="278892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36DAE0"/>
                </a:solidFill>
                <a:latin typeface="Aptos"/>
              </a:defRPr>
            </a:pPr>
            <a:r>
              <a:t>DECIDA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3520440"/>
            <a:ext cx="2121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Compartilhe só com contexto confirmado.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ADBED7"/>
                </a:solidFill>
                <a:latin typeface="Aptos"/>
              </a:defRPr>
            </a:pPr>
            <a:r>
              <a:t>Se alguém estiver sendo prejudicado: guarde evidências, denuncie na plataforma e procure um adulto ou autoridade de confiança.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08 • CAMPANHA DA 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Nem tudo que você vê é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Proposta de campanha para a comunidade escolar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03120"/>
            <a:ext cx="6629400" cy="361188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F4F8FF"/>
                </a:solidFill>
                <a:latin typeface="Aptos"/>
              </a:defRPr>
            </a:pPr>
            <a:r>
              <a:t>UM VÍDEO PODE</a:t>
            </a:r>
          </a:p>
          <a:p>
            <a:pPr algn="ctr">
              <a:spcAft>
                <a:spcPts val="500"/>
              </a:spcAft>
              <a:defRPr sz="2800" b="1">
                <a:solidFill>
                  <a:srgbClr val="F4F8FF"/>
                </a:solidFill>
                <a:latin typeface="Aptos"/>
              </a:defRPr>
            </a:pPr>
            <a:r>
              <a:t>PARECER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5989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FF6960"/>
                </a:solidFill>
                <a:latin typeface="Aptos"/>
              </a:defRPr>
            </a:pPr>
            <a:r>
              <a:t>MAS VOCÊ VERIFICOU?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64608"/>
            <a:ext cx="5989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AE0"/>
                </a:solidFill>
                <a:latin typeface="Aptos"/>
              </a:defRPr>
            </a:pPr>
            <a:r>
              <a:t>PARE → VERIFIQUE → PENSE → COMPARTILHE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03120"/>
            <a:ext cx="3611880" cy="160020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2103120"/>
            <a:ext cx="64008" cy="16002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54696" y="2286000"/>
            <a:ext cx="3172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AE0"/>
                </a:solidFill>
                <a:latin typeface="Aptos"/>
              </a:defRPr>
            </a:pPr>
            <a:r>
              <a:t>Formato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2770632"/>
            <a:ext cx="317296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Cartaz e publicação para redes da escola.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913632"/>
            <a:ext cx="3611880" cy="1801368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3913632"/>
            <a:ext cx="64008" cy="1801368"/>
          </a:xfrm>
          <a:prstGeom prst="rect">
            <a:avLst/>
          </a:prstGeom>
          <a:solidFill>
            <a:srgbClr val="5A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54696" y="4096512"/>
            <a:ext cx="3172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E0AA"/>
                </a:solidFill>
                <a:latin typeface="Aptos"/>
              </a:defRPr>
            </a:pPr>
            <a:r>
              <a:t>Mensagem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4581144"/>
            <a:ext cx="3172968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4F8FF"/>
                </a:solidFill>
                <a:latin typeface="Aptos"/>
              </a:defRPr>
            </a:pPr>
            <a:r>
              <a:t>Inteligência artificial exige pensamento crítico.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09 •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Tecnologia também exige responsabilidade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Deepfakes podem criar conteúdos convincentes, mas nosso comportamento influencia o impacto que eles terão.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7223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4F8FF"/>
                </a:solidFill>
                <a:latin typeface="Aptos"/>
              </a:defRPr>
            </a:pPr>
            <a:r>
              <a:t>“Antes de compartilhar,</a:t>
            </a:r>
          </a:p>
          <a:p>
            <a:pPr>
              <a:spcAft>
                <a:spcPts val="500"/>
              </a:spcAft>
              <a:defRPr sz="3100" b="1">
                <a:solidFill>
                  <a:srgbClr val="F4F8FF"/>
                </a:solidFill>
                <a:latin typeface="Aptos"/>
              </a:defRPr>
            </a:pPr>
            <a:r>
              <a:t>confira a origem.”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212848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578608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36DAE0"/>
                </a:solidFill>
                <a:latin typeface="Aptos"/>
              </a:defRPr>
            </a:pPr>
            <a:r>
              <a:t>IA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36DAE0"/>
                </a:solidFill>
                <a:latin typeface="Aptos"/>
              </a:defRPr>
            </a:pPr>
            <a:r>
              <a:t>≠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36DAE0"/>
                </a:solidFill>
                <a:latin typeface="Aptos"/>
              </a:defRPr>
            </a:pPr>
            <a:r>
              <a:t>VERDADE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5AE0AA"/>
                </a:solidFill>
                <a:latin typeface="Aptos"/>
              </a:defRPr>
            </a:pPr>
            <a:r>
              <a:t>Proteger dados • verificar informações • respeitar as pessoas • compartilhar com contexto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6DAE0"/>
                </a:solidFill>
                <a:latin typeface="Aptos"/>
              </a:defRPr>
            </a:pPr>
            <a:r>
              <a:t>10 • EQUIPE E 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t>Quem somos e de onde partimos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ED7"/>
                </a:solidFill>
                <a:latin typeface="Aptos"/>
              </a:defRPr>
            </a:pPr>
            <a:r>
              <a:t>Projeto da Fase 1 da Maratona Tech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1018520" cy="10972"/>
          </a:xfrm>
          <a:prstGeom prst="rect">
            <a:avLst/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DBED7"/>
                </a:solidFill>
                <a:latin typeface="Aptos"/>
              </a:defRPr>
            </a:pPr>
            <a:r>
              <a:t>MARATONA TECH 2026  •  3º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6DAE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48840"/>
            <a:ext cx="5212080" cy="361188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148840"/>
            <a:ext cx="64008" cy="3611880"/>
          </a:xfrm>
          <a:prstGeom prst="rect">
            <a:avLst/>
          </a:prstGeom>
          <a:solidFill>
            <a:srgbClr val="3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31720"/>
            <a:ext cx="47731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AE0"/>
                </a:solidFill>
                <a:latin typeface="Aptos"/>
              </a:defRPr>
            </a:pPr>
            <a:r>
              <a:t>Equipe • 3º ano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773168" cy="2770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4F8FF"/>
                </a:solidFill>
                <a:latin typeface="Aptos"/>
              </a:defRPr>
            </a:pPr>
            <a:r>
              <a:t>Eduardo Valentin Carneiro</a:t>
            </a:r>
          </a:p>
          <a:p>
            <a:pPr>
              <a:spcAft>
                <a:spcPts val="500"/>
              </a:spcAft>
              <a:defRPr sz="1300" b="0">
                <a:solidFill>
                  <a:srgbClr val="F4F8FF"/>
                </a:solidFill>
                <a:latin typeface="Aptos"/>
              </a:defRPr>
            </a:pPr>
            <a:r>
              <a:t>Luiz Gabriel Alves dos Santos</a:t>
            </a:r>
          </a:p>
          <a:p>
            <a:pPr>
              <a:spcAft>
                <a:spcPts val="500"/>
              </a:spcAft>
              <a:defRPr sz="1300" b="0">
                <a:solidFill>
                  <a:srgbClr val="F4F8FF"/>
                </a:solidFill>
                <a:latin typeface="Aptos"/>
              </a:defRPr>
            </a:pPr>
            <a:r>
              <a:t>Thiago Henrique Malta Garcia</a:t>
            </a:r>
          </a:p>
          <a:p>
            <a:pPr>
              <a:spcAft>
                <a:spcPts val="500"/>
              </a:spcAft>
              <a:defRPr sz="1300" b="0">
                <a:solidFill>
                  <a:srgbClr val="F4F8FF"/>
                </a:solidFill>
                <a:latin typeface="Aptos"/>
              </a:defRPr>
            </a:pPr>
            <a:r>
              <a:t>Felype Justino da Silva</a:t>
            </a:r>
          </a:p>
          <a:p>
            <a:pPr>
              <a:spcAft>
                <a:spcPts val="500"/>
              </a:spcAft>
              <a:defRPr sz="1300" b="0">
                <a:solidFill>
                  <a:srgbClr val="F4F8FF"/>
                </a:solidFill>
                <a:latin typeface="Aptos"/>
              </a:defRPr>
            </a:pPr>
            <a:r>
              <a:t>Paulo Ricardo Nunes da Silva</a:t>
            </a:r>
          </a:p>
          <a:p>
            <a:pPr>
              <a:spcAft>
                <a:spcPts val="500"/>
              </a:spcAft>
              <a:defRPr sz="1300" b="0">
                <a:solidFill>
                  <a:srgbClr val="F4F8FF"/>
                </a:solidFill>
                <a:latin typeface="Aptos"/>
              </a:defRPr>
            </a:pPr>
            <a:r>
              <a:t>Adryan Vinicius de Almeida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148840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162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148840"/>
            <a:ext cx="64008" cy="3611880"/>
          </a:xfrm>
          <a:prstGeom prst="rect">
            <a:avLst/>
          </a:prstGeom>
          <a:solidFill>
            <a:srgbClr val="5A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331720"/>
            <a:ext cx="4727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E0AA"/>
                </a:solidFill>
                <a:latin typeface="Aptos"/>
              </a:defRPr>
            </a:pPr>
            <a:r>
              <a:t>Fontes para aprofundar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816352"/>
            <a:ext cx="4727448" cy="2770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4F8FF"/>
                </a:solidFill>
                <a:latin typeface="Aptos"/>
              </a:defRPr>
            </a:pPr>
            <a:r>
              <a:t>ANPD — Radar tecnológico sobre deepfakes</a:t>
            </a:r>
          </a:p>
          <a:p>
            <a:pPr>
              <a:spcAft>
                <a:spcPts val="500"/>
              </a:spcAft>
              <a:defRPr sz="1200" b="0">
                <a:solidFill>
                  <a:srgbClr val="F4F8FF"/>
                </a:solidFill>
                <a:latin typeface="Aptos"/>
              </a:defRPr>
            </a:pPr>
            <a:r>
              <a:t>gov.br/anpd/pt-br/assuntos/noticias</a:t>
            </a:r>
          </a:p>
          <a:p>
            <a:pPr>
              <a:spcAft>
                <a:spcPts val="500"/>
              </a:spcAft>
              <a:defRPr sz="1200" b="0">
                <a:solidFill>
                  <a:srgbClr val="F4F8FF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4F8FF"/>
                </a:solidFill>
                <a:latin typeface="Aptos"/>
              </a:defRPr>
            </a:pPr>
            <a:r>
              <a:t>TSE — Deepfake e Eleições 2026</a:t>
            </a:r>
          </a:p>
          <a:p>
            <a:pPr>
              <a:spcAft>
                <a:spcPts val="500"/>
              </a:spcAft>
              <a:defRPr sz="1200" b="0">
                <a:solidFill>
                  <a:srgbClr val="F4F8FF"/>
                </a:solidFill>
                <a:latin typeface="Aptos"/>
              </a:defRPr>
            </a:pPr>
            <a:r>
              <a:t>tse.jus.br/comunicacao/noticias</a:t>
            </a:r>
          </a:p>
          <a:p>
            <a:pPr>
              <a:spcAft>
                <a:spcPts val="500"/>
              </a:spcAft>
              <a:defRPr sz="1200" b="0">
                <a:solidFill>
                  <a:srgbClr val="F4F8FF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4F8FF"/>
                </a:solidFill>
                <a:latin typeface="Aptos"/>
              </a:defRPr>
            </a:pPr>
            <a:r>
              <a:t>Governo Digital — Guia de IA Generativa</a:t>
            </a:r>
          </a:p>
          <a:p>
            <a:pPr>
              <a:spcAft>
                <a:spcPts val="500"/>
              </a:spcAft>
              <a:defRPr sz="1200" b="0">
                <a:solidFill>
                  <a:srgbClr val="F4F8FF"/>
                </a:solidFill>
                <a:latin typeface="Aptos"/>
              </a:defRPr>
            </a:pPr>
            <a:r>
              <a:t>gov.br/governodigital/pt-br/infraestrutura-nacional-de-dados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7103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4F8FF"/>
                </a:solidFill>
                <a:latin typeface="Aptos"/>
              </a:defRPr>
            </a:pPr>
            <a:r>
              <a:t>Colégio Estadual Marechal Costa e Silva • Cidade Gaúcha, Paraná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