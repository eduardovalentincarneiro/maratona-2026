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329bebeb964472" /><Relationship Type="http://schemas.openxmlformats.org/officeDocument/2006/relationships/extended-properties" Target="/docProps/app.xml" Id="Ra957913a38164677" /><Relationship Type="http://schemas.openxmlformats.org/officeDocument/2006/relationships/officeDocument" Target="/ppt/presentation.xml" Id="R191c77d00e314a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bcd578fb394058"/>
  </p:sldMasterIdLst>
  <p:notesMasterIdLst>
    <p:notesMasterId xmlns:r="http://schemas.openxmlformats.org/officeDocument/2006/relationships" r:id="Rfad63c81cee94a02"/>
  </p:notesMasterIdLst>
  <p:sldIdLst>
    <p:sldId xmlns:r="http://schemas.openxmlformats.org/officeDocument/2006/relationships" id="256" r:id="R510bc305f17b46a8"/>
    <p:sldId xmlns:r="http://schemas.openxmlformats.org/officeDocument/2006/relationships" id="257" r:id="Rd863f23bfa694761"/>
    <p:sldId xmlns:r="http://schemas.openxmlformats.org/officeDocument/2006/relationships" id="258" r:id="R137fe77e711d4af9"/>
    <p:sldId xmlns:r="http://schemas.openxmlformats.org/officeDocument/2006/relationships" id="259" r:id="Rb64e55c839bb44f6"/>
    <p:sldId xmlns:r="http://schemas.openxmlformats.org/officeDocument/2006/relationships" id="260" r:id="R8f328eddff4642d3"/>
    <p:sldId xmlns:r="http://schemas.openxmlformats.org/officeDocument/2006/relationships" id="261" r:id="R88c1b62eb52d4e5e"/>
    <p:sldId xmlns:r="http://schemas.openxmlformats.org/officeDocument/2006/relationships" id="262" r:id="R0a81f1d722ec4e55"/>
    <p:sldId xmlns:r="http://schemas.openxmlformats.org/officeDocument/2006/relationships" id="263" r:id="Ra404fe2fcbfe4a39"/>
    <p:sldId xmlns:r="http://schemas.openxmlformats.org/officeDocument/2006/relationships" id="264" r:id="R2774c249a4a649af"/>
    <p:sldId xmlns:r="http://schemas.openxmlformats.org/officeDocument/2006/relationships" id="265" r:id="Rf97581da8ed34a2c"/>
    <p:sldId xmlns:r="http://schemas.openxmlformats.org/officeDocument/2006/relationships" id="266" r:id="R1b9ebbdcbfd94cff"/>
    <p:sldId xmlns:r="http://schemas.openxmlformats.org/officeDocument/2006/relationships" id="267" r:id="R436025d8ea76476b"/>
    <p:sldId xmlns:r="http://schemas.openxmlformats.org/officeDocument/2006/relationships" id="268" r:id="R0fd6ff6cb5b7480c"/>
    <p:sldId xmlns:r="http://schemas.openxmlformats.org/officeDocument/2006/relationships" id="269" r:id="Rc7dfcf626dce4d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745701f24242d8" /><Relationship Type="http://schemas.openxmlformats.org/officeDocument/2006/relationships/slideMaster" Target="/ppt/slideMasters/slideMaster1.xml" Id="Rf2bcd578fb394058" /><Relationship Type="http://schemas.openxmlformats.org/officeDocument/2006/relationships/notesMaster" Target="/ppt/notesMasters/notesMaster1.xml" Id="Rfad63c81cee94a02" /><Relationship Type="http://schemas.openxmlformats.org/officeDocument/2006/relationships/presProps" Target="/ppt/presProps.xml" Id="R3de72a1b91f548c9" /><Relationship Type="http://schemas.openxmlformats.org/officeDocument/2006/relationships/tableStyles" Target="/ppt/tableStyles.xml" Id="R65360f66b4514970" /><Relationship Type="http://schemas.openxmlformats.org/officeDocument/2006/relationships/slide" Target="/ppt/slides/slide1.xml" Id="R510bc305f17b46a8" /><Relationship Type="http://schemas.openxmlformats.org/officeDocument/2006/relationships/slide" Target="/ppt/slides/slide2.xml" Id="Rd863f23bfa694761" /><Relationship Type="http://schemas.openxmlformats.org/officeDocument/2006/relationships/slide" Target="/ppt/slides/slide3.xml" Id="R137fe77e711d4af9" /><Relationship Type="http://schemas.openxmlformats.org/officeDocument/2006/relationships/slide" Target="/ppt/slides/slide4.xml" Id="Rb64e55c839bb44f6" /><Relationship Type="http://schemas.openxmlformats.org/officeDocument/2006/relationships/slide" Target="/ppt/slides/slide5.xml" Id="R8f328eddff4642d3" /><Relationship Type="http://schemas.openxmlformats.org/officeDocument/2006/relationships/slide" Target="/ppt/slides/slide6.xml" Id="R88c1b62eb52d4e5e" /><Relationship Type="http://schemas.openxmlformats.org/officeDocument/2006/relationships/slide" Target="/ppt/slides/slide7.xml" Id="R0a81f1d722ec4e55" /><Relationship Type="http://schemas.openxmlformats.org/officeDocument/2006/relationships/slide" Target="/ppt/slides/slide8.xml" Id="Ra404fe2fcbfe4a39" /><Relationship Type="http://schemas.openxmlformats.org/officeDocument/2006/relationships/slide" Target="/ppt/slides/slide9.xml" Id="R2774c249a4a649af" /><Relationship Type="http://schemas.openxmlformats.org/officeDocument/2006/relationships/slide" Target="/ppt/slides/slide10.xml" Id="Rf97581da8ed34a2c" /><Relationship Type="http://schemas.openxmlformats.org/officeDocument/2006/relationships/slide" Target="/ppt/slides/slide11.xml" Id="R1b9ebbdcbfd94cff" /><Relationship Type="http://schemas.openxmlformats.org/officeDocument/2006/relationships/slide" Target="/ppt/slides/slide12.xml" Id="R436025d8ea76476b" /><Relationship Type="http://schemas.openxmlformats.org/officeDocument/2006/relationships/slide" Target="/ppt/slides/slide13.xml" Id="R0fd6ff6cb5b7480c" /><Relationship Type="http://schemas.openxmlformats.org/officeDocument/2006/relationships/slide" Target="/ppt/slides/slide14.xml" Id="Rc7dfcf626dce4d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35f64f57fa4c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656d8bb4fe4fdb" /><Relationship Type="http://schemas.openxmlformats.org/officeDocument/2006/relationships/notesMaster" Target="/ppt/notesMasters/notesMaster1.xml" Id="R6033d2abf86e42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936f65976a48a6" /><Relationship Type="http://schemas.openxmlformats.org/officeDocument/2006/relationships/notesMaster" Target="/ppt/notesMasters/notesMaster1.xml" Id="R8e74a44759b344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f291b59ac04d04" /><Relationship Type="http://schemas.openxmlformats.org/officeDocument/2006/relationships/notesMaster" Target="/ppt/notesMasters/notesMaster1.xml" Id="Ra30b6ded65dd4b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25494df20d4d9c" /><Relationship Type="http://schemas.openxmlformats.org/officeDocument/2006/relationships/notesMaster" Target="/ppt/notesMasters/notesMaster1.xml" Id="R4eb817c827614e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696b835bc24364" /><Relationship Type="http://schemas.openxmlformats.org/officeDocument/2006/relationships/notesMaster" Target="/ppt/notesMasters/notesMaster1.xml" Id="R90c4dd1be64049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5bd8f1577c4896" /><Relationship Type="http://schemas.openxmlformats.org/officeDocument/2006/relationships/notesMaster" Target="/ppt/notesMasters/notesMaster1.xml" Id="R1b28bbc20ea549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c618b462d247ee" /><Relationship Type="http://schemas.openxmlformats.org/officeDocument/2006/relationships/notesMaster" Target="/ppt/notesMasters/notesMaster1.xml" Id="R5f02148cfa1a4a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2ccb1197ac4284" /><Relationship Type="http://schemas.openxmlformats.org/officeDocument/2006/relationships/notesMaster" Target="/ppt/notesMasters/notesMaster1.xml" Id="R60c326c4a2854d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bb574fab9e4787" /><Relationship Type="http://schemas.openxmlformats.org/officeDocument/2006/relationships/notesMaster" Target="/ppt/notesMasters/notesMaster1.xml" Id="R268d716013954f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a4367c6a8574c1f" /><Relationship Type="http://schemas.openxmlformats.org/officeDocument/2006/relationships/notesMaster" Target="/ppt/notesMasters/notesMaster1.xml" Id="R45f884f91e5c49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13dd06ef826495b" /><Relationship Type="http://schemas.openxmlformats.org/officeDocument/2006/relationships/notesMaster" Target="/ppt/notesMasters/notesMaster1.xml" Id="R0414f2ba3397448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374f6ef212a4925" /><Relationship Type="http://schemas.openxmlformats.org/officeDocument/2006/relationships/notesMaster" Target="/ppt/notesMasters/notesMaster1.xml" Id="Redd082591e1f41f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7013f992e3a4439" /><Relationship Type="http://schemas.openxmlformats.org/officeDocument/2006/relationships/notesMaster" Target="/ppt/notesMasters/notesMaster1.xml" Id="R3842245e92b64aa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3500200e5e940f5" /><Relationship Type="http://schemas.openxmlformats.org/officeDocument/2006/relationships/notesMaster" Target="/ppt/notesMasters/notesMaster1.xml" Id="Rcc3f926e195c4d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Abertura — Eduardo. Apresente grupo e tema. Diga que investigamos como conteúdos sintéticos podem parecer autênticos e propomos práticas de verificação. Não prometa detecção automática.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Eduardo. Explique a definição da ANPD. Nem toda edição é deepfake, e nem todo uso de IA é malicioso. Fontes: ANPD, Radar Tecnológico nº 6 (2026), https://www.gov.br/anpd/pt-br/assuntos/noticias/anpd-publica-radar-tecnologico-sobre-deepfakes ; Material do Estudante Maratona Tech 2026, Ensino Médio/N3.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Luiz Gabriel. O vídeo, exibido na Convenção Nacional do PL, recriou Jair Bolsonaro declarando apoio à candidatura de Flávio Bolsonaro. A FE Brasil contestou. O TSE rejeitou o pedido de multa por 4 votos a 3 e fixou critérios; para a regra eleitoral discutida, a vedação pressupõe propaganda eleitoral. A decisão depende do contexto e não dá permissão geral. Fonte: TSE, “TSE fixa tese sobre deepfake e delimita regra para as Eleições 2026”, 1–2 set. 2026, https://www.tse.jus.br/comunicacao/noticias/2026/Setembro/tse-fixa-tese-sobre-deepfake-e-delimita-regra-para-as-eleicoes-2026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Luiz Gabriel. A notícia confirma a geração por IA e a recriação de imagem e voz. Não detalha dados de treinamento nem métricas de alcance algorítmico. Não inventem esses elementos. Fonte: TSE, https://www.tse.jus.br/comunicacao/noticias/2026/Setembro/tse-fixa-tese-sobre-deepfake-e-delimita-regra-para-as-eleicoes-2026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Thiago. Percorra a cadeia sem atribuir ao caso informações que a fonte não traz. Imagens e voz podem servir de insumo em fluxos de geração, mas a matéria consultada não especifica quais dados foram usados. Fonte: ANPD, Radar Tecnológico nº 6, https://www.gov.br/anpd/pt-br/assuntos/noticias/anpd-publica-radar-tecnologico-sobre-deepfakes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Thiago. Causa-raiz: mídia sintética realista junto a falta de proveniência/contexto e circulação antes da checagem. Recomendações algorítmicas podem influenciar distribuição, mas não são causa única. Fonte: ANPD, Radar Tecnológico nº 6, https://www.gov.br/anpd/pt-br/assuntos/noticias/anpd-publica-radar-tecnologico-sobre-deepfakes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Felype. Relacione o rastro digital a fotos, áudios e publicações que podem permanecer disponíveis ou ser replicados. A LGPD define dado pessoal como informação ligada a pessoa identificada ou identificável. Não diga que toda foto é automaticamente dado biométrico: biometria vinculada à pessoa é dado sensível. Fontes: ANPD, Titular de Dados, https://www.gov.br/anpd/pt-br/assuntos/titular-de-dados ; ANPD, Perguntas Frequentes, https://www.gov.br/anpd/pt-br/acesso-a-informacao/perguntas-frequentes ; Lei 13.709/2018, art. 5º, https://www.planalto.gov.br/ccivil_03/_ato2015-2018/2018/lei/l13709compilado.htm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Felype. Sistemas de recomendação personalizam o que aparece conforme possíveis interesses; isso pode influenciar visibilidade, mas não checa a veracidade. A notícia do TSE não mede o alcance algorítmico do vídeo do caso, então este é um mecanismo geral. Fonte: SECOM, “Conhecendo os riscos”, https://www.gov.br/secom/pt-br/assuntos/uso-de-telas-por-criancas-e-adolescentes/guia/capitulos/conhecendo-os-riscos ; TSE, https://www.tse.jus.br/comunicacao/noticias/2026/Setembro/tse-fixa-tese-sobre-deepfake-e-delimita-regra-para-as-eleicoes-2026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Paulo. Apresente os eixos informacional, reputacional/emocional, econômico e coletivo. A ANPD relaciona uso indevido de deepfakes a golpes, fraudes, violência de gênero e manipulação eleitoral; não diga que todos ocorreram no caso do TSE. Fonte: ANPD, Radar Tecnológico nº 6, https://www.gov.br/anpd/pt-br/assuntos/noticias/anpd-publica-radar-tecnologico-sobre-deepfakes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Paulo. Área escolhida: Engenharia de Software. O profissional pode desenvolver soluções para buscar proveniência e contexto e explicar limites. Modelos podem errar e não substituem confirmação por fontes. O site da equipe é protótipo educativo sem análise real de arquivos. Fonte: Governo Digital, Guia IA Generativa, https://www.gov.br/governodigital/pt-br/infraestrutura-nacional-de-dados/inteligencia-artificial-1/publicacoes/guia-ia-generativa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Adryan. Apresente o guia: pausar, buscar fonte, comparar contexto e só compartilhar com confirmação. Na escola, usem exemplos identificados; se houver dano, preservem evidências e busquem apoio. A ANPD ressalta letramento e educação midiática e transparência algorítmica. Fonte: ANPD Radar Tecnológico nº 6, https://www.gov.br/anpd/pt-br/assuntos/noticias/anpd-publica-radar-tecnologico-sobre-deepfakes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Adryan. Apresente a campanha visual: pare, verifique, pense e compartilhe apenas com contexto confirmado. O site reúne um guia e um desafio educativo; não analisa arquivos nem detecta deepfakes. Para demonstrar exemplos, usem vídeos e imagens com origem conhecida, permissão de uso e aviso claro quando forem sintéticos ou encenados. Evitem usar colegas sem autorização.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Adryan. Feche retomando a ideia central. Pergunte: “Que fonte você procuraria primeiro antes de compartilhar este vídeo?” Convide a turma a experimentar o desafio do site.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consultadas em 30/09/2026. 1) ANPD, “ANPD publica Radar Tecnológico sobre deepfakes”, 29 jul. 2026. https://www.gov.br/anpd/pt-br/assuntos/noticias/anpd-publica-radar-tecnologico-sobre-deepfakes</a:t>
            </a:r>
          </a:p>
          <a:p xmlns:a="http://schemas.openxmlformats.org/drawingml/2006/main">
            <a:r>
              <a:t>2) TSE, “TSE fixa tese sobre deepfake e delimita regra para as Eleições 2026”, 1–2 set. 2026. https://www.tse.jus.br/comunicacao/noticias/2026/Setembro/tse-fixa-tese-sobre-deepfake-e-delimita-regra-para-as-eleicoes-2026</a:t>
            </a:r>
          </a:p>
          <a:p xmlns:a="http://schemas.openxmlformats.org/drawingml/2006/main">
            <a:r>
              <a:t>3) SECOM, “Conhecendo os riscos”, Guia sobre uso de telas por crianças e adolescentes. https://www.gov.br/secom/pt-br/assuntos/uso-de-telas-por-criancas-e-adolescentes/guia/capitulos/conhecendo-os-riscos</a:t>
            </a:r>
          </a:p>
          <a:p xmlns:a="http://schemas.openxmlformats.org/drawingml/2006/main">
            <a:r>
              <a:t>4) ANPD, “Titular de Dados”. https://www.gov.br/anpd/pt-br/assuntos/titular-de-dados ; ANPD, “Perguntas Frequentes”. https://www.gov.br/anpd/pt-br/acesso-a-informacao/perguntas-frequentes</a:t>
            </a:r>
          </a:p>
          <a:p xmlns:a="http://schemas.openxmlformats.org/drawingml/2006/main">
            <a:r>
              <a:t>5) Brasil. Lei nº 13.709, de 14 ago. 2018 (LGPD), art. 5º. https://www.planalto.gov.br/ccivil_03/_ato2015-2018/2018/lei/l13709compilado.htm</a:t>
            </a:r>
          </a:p>
          <a:p xmlns:a="http://schemas.openxmlformats.org/drawingml/2006/main">
            <a:r>
              <a:t>6) Maratona Tech. Material do Estudante — Fase 1 2026, Ensino Médio/N3, fornecido pela equipe.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cf196dab9e45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22d4268e374dc4" /><Relationship Type="http://schemas.openxmlformats.org/officeDocument/2006/relationships/slideLayout" Target="/ppt/slideLayouts/slideLayout1.xml" Id="R645c8e48789c40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5c8e48789c40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7b405a2b94c59" /><Relationship Type="http://schemas.openxmlformats.org/officeDocument/2006/relationships/notesSlide" Target="/ppt/notesSlides/notesSlide1.xml" Id="R6973686ed2ab49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09cfee716947ff" /><Relationship Type="http://schemas.openxmlformats.org/officeDocument/2006/relationships/notesSlide" Target="/ppt/notesSlides/notesSlide2.xml" Id="Raf453273b5ca49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2b237f8244fd4" /><Relationship Type="http://schemas.openxmlformats.org/officeDocument/2006/relationships/notesSlide" Target="/ppt/notesSlides/notesSlide3.xml" Id="R1c18239e9b7b4d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1b3d57f434d85" /><Relationship Type="http://schemas.openxmlformats.org/officeDocument/2006/relationships/notesSlide" Target="/ppt/notesSlides/notesSlide4.xml" Id="R6cf48f752ddb4c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966fe7cfd4d24" /><Relationship Type="http://schemas.openxmlformats.org/officeDocument/2006/relationships/notesSlide" Target="/ppt/notesSlides/notesSlide5.xml" Id="R88f7b974ed1640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43250f4cf4625" /><Relationship Type="http://schemas.openxmlformats.org/officeDocument/2006/relationships/notesSlide" Target="/ppt/notesSlides/notesSlide6.xml" Id="R37c45a4365a34e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fe333ee3a54a51" /><Relationship Type="http://schemas.openxmlformats.org/officeDocument/2006/relationships/notesSlide" Target="/ppt/notesSlides/notesSlide7.xml" Id="Rb50c41a80be74c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458551d664c14" /><Relationship Type="http://schemas.openxmlformats.org/officeDocument/2006/relationships/notesSlide" Target="/ppt/notesSlides/notesSlide8.xml" Id="R1d629b40cd5f42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b36d7733d4185" /><Relationship Type="http://schemas.openxmlformats.org/officeDocument/2006/relationships/notesSlide" Target="/ppt/notesSlides/notesSlide9.xml" Id="Rd335abc1c36b4fe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412927561849b3" /><Relationship Type="http://schemas.openxmlformats.org/officeDocument/2006/relationships/notesSlide" Target="/ppt/notesSlides/notesSlide10.xml" Id="Rf817b7b2d5324ed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6d3e991d542b3" /><Relationship Type="http://schemas.openxmlformats.org/officeDocument/2006/relationships/notesSlide" Target="/ppt/notesSlides/notesSlide11.xml" Id="Rf49c8e6846fd400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4048b70f64ace" /><Relationship Type="http://schemas.openxmlformats.org/officeDocument/2006/relationships/notesSlide" Target="/ppt/notesSlides/notesSlide12.xml" Id="R5a21ed9cc7034b9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47207a17c4961" /><Relationship Type="http://schemas.openxmlformats.org/officeDocument/2006/relationships/notesSlide" Target="/ppt/notesSlides/notesSlide13.xml" Id="R3d85bde0d7f34f5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53aa3487b42f0" /><Relationship Type="http://schemas.openxmlformats.org/officeDocument/2006/relationships/notesSlide" Target="/ppt/notesSlides/notesSlide14.xml" Id="R694fc528395d4f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0EE926-F3C5-40C5-867D-2B215A7A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VERIFICA.AI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24D45-3CCA-4646-8C3F-8C23B5CB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0AE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0AEC0"/>
                </a:solidFill>
                <a:latin typeface="Arial"/>
                <a:ea typeface="Arial"/>
                <a:cs typeface="Arial"/>
              </a:rPr>
              <a:t>MARATONA TECH 2026   /   FASE 1   /   N3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5137F-D7ED-4D28-AA01-A8234947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ED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FD0332-53BF-4BFC-BB2B-686746BE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762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Deepfakes</a:t>
            </a:r>
          </a:p>
          <a:p xmlns:a="http://schemas.openxmlformats.org/drawingml/2006/main">
            <a:pPr algn="l">
              <a:defRPr sz="49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e desinformação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44EBB-440B-4353-A3E5-CE6A2D9F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723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2EDDF"/>
                </a:solidFill>
                <a:latin typeface="Arial"/>
                <a:ea typeface="Arial"/>
                <a:cs typeface="Arial"/>
              </a:rPr>
              <a:t>Como verificar conteúdos que parecem reais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179AF9-9F37-4690-975E-E62C7753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647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0AEC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0AEC0"/>
                </a:solidFill>
                <a:latin typeface="Arial"/>
                <a:ea typeface="Arial"/>
                <a:cs typeface="Arial"/>
              </a:rPr>
              <a:t>PROJETO DE ANÁLISE E RECOMENDAÇÕES PÚBLICAS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7D2C1-0AF1-4A34-B9D9-B1E3C765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74DF2B-C87F-4DCE-BAE8-CF1A4798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672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Colégio Estadual Marechal Costa e Silva  •  Cidade Gaúcha, Paraná  •  3º ano 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CAC8A4-38EF-45F2-B506-1A2BE4FD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338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0AE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0AEC0"/>
                </a:solidFill>
                <a:latin typeface="Arial"/>
                <a:ea typeface="Arial"/>
                <a:cs typeface="Arial"/>
              </a:rPr>
              <a:t>Eduardo Valentin Carneiro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2FE17-EBEA-40E4-BAC5-AB769E37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91150"/>
            <a:ext cx="338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0AE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0AEC0"/>
                </a:solidFill>
                <a:latin typeface="Arial"/>
                <a:ea typeface="Arial"/>
                <a:cs typeface="Arial"/>
              </a:rPr>
              <a:t>Luiz Gabriel Alves dos Santos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566AAE-5D6E-4FE3-AF4B-F81DFC05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391150"/>
            <a:ext cx="338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0AE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0AEC0"/>
                </a:solidFill>
                <a:latin typeface="Arial"/>
                <a:ea typeface="Arial"/>
                <a:cs typeface="Arial"/>
              </a:rPr>
              <a:t>Thiago Henrique Malta Garcia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648C90-34D7-406F-A536-08287BE7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86425"/>
            <a:ext cx="338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0AE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0AEC0"/>
                </a:solidFill>
                <a:latin typeface="Arial"/>
                <a:ea typeface="Arial"/>
                <a:cs typeface="Arial"/>
              </a:rPr>
              <a:t>Felype Justino da Silva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91A6C5-D3BB-4BC1-BD81-01D0C02D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86425"/>
            <a:ext cx="338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0AE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0AEC0"/>
                </a:solidFill>
                <a:latin typeface="Arial"/>
                <a:ea typeface="Arial"/>
                <a:cs typeface="Arial"/>
              </a:rPr>
              <a:t>Paulo Ricardo Nunes da Silva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76ADDF-3358-4255-A3F1-0EFE6C77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686425"/>
            <a:ext cx="338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0AE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0AEC0"/>
                </a:solidFill>
                <a:latin typeface="Arial"/>
                <a:ea typeface="Arial"/>
                <a:cs typeface="Arial"/>
              </a:rPr>
              <a:t>Adryan Vinicius de Almeida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5744E8-7502-4321-BDAD-FDC1AF7D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9825"/>
            <a:ext cx="619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DF3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DF36F"/>
                </a:solidFill>
                <a:latin typeface="Arial"/>
                <a:ea typeface="Arial"/>
                <a:cs typeface="Arial"/>
              </a:rPr>
              <a:t>ANTES DE COMPARTILHAR, CONFIRA.</a:t>
            </a:r>
          </a:p>
        </p:txBody>
      </p:sp>
    </p:spTree>
    <p:extLst>
      <p:ext uri="{BB962C8B-B14F-4D97-AF65-F5344CB8AC3E}">
        <p14:creationId xmlns:p14="http://schemas.microsoft.com/office/powerpoint/2010/main" val="16596680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D446ED-D6F5-4BE4-87D3-75443E37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VERIFICA.AI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F6ECE-922C-4023-99FA-C6E314E9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01 / PROBLEMA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9C26E-AEB3-463F-8A94-097F5CA5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Deepfake: quando a aparência não basta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49CB1-8259-4571-B013-6AE850D3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972D65-D204-4779-86C1-794C3126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08198"/>
                </a:solidFill>
                <a:latin typeface="Arial"/>
                <a:ea typeface="Arial"/>
                <a:cs typeface="Arial"/>
              </a:rPr>
              <a:t>MARATONA TECH 2026  •  ENSINO MÉDIO / N3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5100BD-4132-4896-8A1F-B5E0DB71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04B87C-48F8-4FA2-A5FB-BCE99ACA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23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99747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Deepfakes são áudios, fotos ou vídeos criados ou modificados com IA generativa e alto grau de realismo.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799780-CD54-4ACA-AB8C-D6FF5E8F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695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0AEC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0AEC0"/>
                </a:solidFill>
                <a:latin typeface="Arial"/>
                <a:ea typeface="Arial"/>
                <a:cs typeface="Arial"/>
              </a:rPr>
              <a:t>O problema aparece quando o conteúdo é apresentado sem contexto ou como registro verdadeiro — e circula antes de ser verificado.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18FC91-7D40-445E-8119-08668751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66950"/>
            <a:ext cx="19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ED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B260E8-D566-47A5-9E86-525C8D33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622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99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7994"/>
                </a:solidFill>
                <a:latin typeface="Arial"/>
                <a:ea typeface="Arial"/>
                <a:cs typeface="Arial"/>
              </a:rPr>
              <a:t>POR QUE INVESTIGAR?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737E2F-3EA5-4725-A3CF-35B78502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47950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B"/>
                </a:solidFill>
                <a:latin typeface="Arial"/>
                <a:ea typeface="Arial"/>
                <a:cs typeface="Arial"/>
              </a:rPr>
              <a:t>Imagem e voz podem influenciar o que as pessoas acreditam.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FC92BB-31D7-4CD4-A65C-B60DABE3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95675"/>
            <a:ext cx="280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55BFA-A4F8-4916-A388-B52329D6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76650"/>
            <a:ext cx="285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0AEC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0AEC0"/>
                </a:solidFill>
                <a:latin typeface="Arial"/>
                <a:ea typeface="Arial"/>
                <a:cs typeface="Arial"/>
              </a:rPr>
              <a:t>Os riscos envolvem dados pessoais, reputação, golpes e confiança pública.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782F67-81EC-46E3-8AC4-6E84123D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62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2EDDF"/>
                </a:solidFill>
                <a:latin typeface="Arial"/>
                <a:ea typeface="Arial"/>
                <a:cs typeface="Arial"/>
              </a:rPr>
              <a:t>A ANPD analisa os impactos dos deepfakes sobre dados e segurança digital no Brasil.</a:t>
            </a:r>
          </a:p>
        </p:txBody>
      </p:sp>
    </p:spTree>
    <p:extLst>
      <p:ext uri="{BB962C8B-B14F-4D97-AF65-F5344CB8AC3E}">
        <p14:creationId xmlns:p14="http://schemas.microsoft.com/office/powerpoint/2010/main" val="4820903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065A4D-4C46-4EBD-9256-0405E829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VERIFICA.AI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15C24-757B-4AC0-9033-F68A7094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02 / ARTEFATO DIGITAL • CASO PÚBLICO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ECB906-A0D8-4A43-A3EE-ECBCA355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Vídeo de IA analisado pelo TSE em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B5F20F-F421-4BA3-B088-AE15C002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E79451-BDA5-45F2-95B2-85257FD9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08198"/>
                </a:solidFill>
                <a:latin typeface="Arial"/>
                <a:ea typeface="Arial"/>
                <a:cs typeface="Arial"/>
              </a:rPr>
              <a:t>MARATONA TECH 2026  •  ENSINO MÉDIO / N3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0828AD-82DD-4F04-86C1-E6DB2DBF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EFDFB-364A-475B-A08F-95303E2C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85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99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7994"/>
                </a:solidFill>
                <a:latin typeface="Arial"/>
                <a:ea typeface="Arial"/>
                <a:cs typeface="Arial"/>
              </a:rPr>
              <a:t>CONVENÇÃO NACIONAL  ·  25 JUL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E94409-C1DE-4191-827C-985B1762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619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Um vídeo gerado por IA recriou a imagem e a voz de Jair Bolsonaro declarando apoio à candidatura do filho.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8E079F-46B0-4D34-84A5-4138F873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6143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0AEC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0AEC0"/>
                </a:solidFill>
                <a:latin typeface="Arial"/>
                <a:ea typeface="Arial"/>
                <a:cs typeface="Arial"/>
              </a:rPr>
              <a:t>Uma federação partidária questionou o conteúdo. Em 1º de setembro, o TSE julgou o caso e definiu critérios para caracterizar deepfake nas eleições.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40D15A-B1DD-49C9-98B3-B1FF1321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66950"/>
            <a:ext cx="190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241F04-6800-40F1-B125-E37028E9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52675"/>
            <a:ext cx="3476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POR QUE É UM ARTEFATO N3?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95828C-9B03-45E6-B086-23B7AFF8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95575"/>
            <a:ext cx="3476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B"/>
                </a:solidFill>
                <a:latin typeface="Arial"/>
                <a:ea typeface="Arial"/>
                <a:cs typeface="Arial"/>
              </a:rPr>
              <a:t>Conteúdo audiovisual real, discutido em processo de alcance nacional e ligado à circulação de informação política.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8FFED3-D112-4DEE-A8C5-44B96C38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2BD562-319C-4305-A58E-584C7D8F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57650"/>
            <a:ext cx="3476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0AEC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0AEC0"/>
                </a:solidFill>
                <a:latin typeface="Arial"/>
                <a:ea typeface="Arial"/>
                <a:cs typeface="Arial"/>
              </a:rPr>
              <a:t>A análise exige olhar para conteúdo, linguagem, público e contexto — não só para o realismo visual.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FC37B7-1CEA-4776-8B2E-5955FE8C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1062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DF36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DF36F"/>
                </a:solidFill>
                <a:latin typeface="Arial"/>
                <a:ea typeface="Arial"/>
                <a:cs typeface="Arial"/>
              </a:rPr>
              <a:t>O TSE rejeitou o pedido de multa no caso concreto; isso não é autorização geral para qualquer uso de deepfake.</a:t>
            </a:r>
          </a:p>
        </p:txBody>
      </p:sp>
    </p:spTree>
    <p:extLst>
      <p:ext uri="{BB962C8B-B14F-4D97-AF65-F5344CB8AC3E}">
        <p14:creationId xmlns:p14="http://schemas.microsoft.com/office/powerpoint/2010/main" val="5645124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E41ED5-A1F1-40C0-ADD8-ACDE173A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VERIFICA.AI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EABAF-64B1-4AA8-86FD-3B560728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03 / RELATÓRIO TÉCNICO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C3D5F-6981-4071-BE6A-837E90DE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O que sabemos — e o que não podemos presumir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7AC8AD-2466-4104-A76D-1F73656D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5FE48-CEDD-4818-9222-E55DD632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08198"/>
                </a:solidFill>
                <a:latin typeface="Arial"/>
                <a:ea typeface="Arial"/>
                <a:cs typeface="Arial"/>
              </a:rPr>
              <a:t>MARATONA TECH 2026  •  ENSINO MÉDIO / N3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199302-BC5C-4F26-92A8-15058212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52B88A-35C6-48C0-A5B3-B5E113D4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81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CONFIRMADO NA FONTE PÚBLICA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C0E9E-70CC-438C-83AB-DA70F62A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810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ED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29BED6-0518-42E5-8F7B-C1C53CAC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8101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B"/>
                </a:solidFill>
                <a:latin typeface="Arial"/>
                <a:ea typeface="Arial"/>
                <a:cs typeface="Arial"/>
              </a:rPr>
              <a:t>• Vídeo gerado por IA.</a:t>
            </a:r>
          </a:p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B"/>
                </a:solidFill>
                <a:latin typeface="Arial"/>
                <a:ea typeface="Arial"/>
                <a:cs typeface="Arial"/>
              </a:rPr>
              <a:t>• Recriou imagem e voz de pessoa pública.</a:t>
            </a:r>
          </a:p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B"/>
                </a:solidFill>
                <a:latin typeface="Arial"/>
                <a:ea typeface="Arial"/>
                <a:cs typeface="Arial"/>
              </a:rPr>
              <a:t>• Foi exibido em convenção partidária.</a:t>
            </a:r>
          </a:p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B"/>
                </a:solidFill>
                <a:latin typeface="Arial"/>
                <a:ea typeface="Arial"/>
                <a:cs typeface="Arial"/>
              </a:rPr>
              <a:t>• A Justiça avaliou o contexto da comunicação.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01C23-66B3-470B-B165-890DD7AD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324100"/>
            <a:ext cx="52482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99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7994"/>
                </a:solidFill>
                <a:latin typeface="Arial"/>
                <a:ea typeface="Arial"/>
                <a:cs typeface="Arial"/>
              </a:rPr>
              <a:t>NÃO INFORMADO NA NOTÍCIA DO JULGAMENTO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0BA2BD-B627-40E1-9AB0-D1110799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571750"/>
            <a:ext cx="5248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9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9101C2-3EDE-4A23-A40C-7222B4AC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781300"/>
            <a:ext cx="52482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B"/>
                </a:solidFill>
                <a:latin typeface="Arial"/>
                <a:ea typeface="Arial"/>
                <a:cs typeface="Arial"/>
              </a:rPr>
              <a:t>• Arquivos usados para gerar o vídeo.</a:t>
            </a:r>
          </a:p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B"/>
                </a:solidFill>
                <a:latin typeface="Arial"/>
                <a:ea typeface="Arial"/>
                <a:cs typeface="Arial"/>
              </a:rPr>
              <a:t>• Como foi recomendado no feed.</a:t>
            </a:r>
          </a:p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B"/>
                </a:solidFill>
                <a:latin typeface="Arial"/>
                <a:ea typeface="Arial"/>
                <a:cs typeface="Arial"/>
              </a:rPr>
              <a:t>• Quantas pessoas viram ou compartilharam.</a:t>
            </a:r>
          </a:p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B"/>
                </a:solidFill>
                <a:latin typeface="Arial"/>
                <a:ea typeface="Arial"/>
                <a:cs typeface="Arial"/>
              </a:rPr>
              <a:t>• Se o público percebeu que era sintético.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507C01-B8FC-43C6-9B48-637DE6C2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DF36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DF36F"/>
                </a:solidFill>
                <a:latin typeface="Arial"/>
                <a:ea typeface="Arial"/>
                <a:cs typeface="Arial"/>
              </a:rPr>
              <a:t>Conclusão técnica: separamos fatos confirmados de hipóteses sobre dados e alcance.</a:t>
            </a:r>
          </a:p>
        </p:txBody>
      </p:sp>
    </p:spTree>
    <p:extLst>
      <p:ext uri="{BB962C8B-B14F-4D97-AF65-F5344CB8AC3E}">
        <p14:creationId xmlns:p14="http://schemas.microsoft.com/office/powerpoint/2010/main" val="18481591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942958-5412-427C-A2C0-AAF92EE3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VERIFICA.AI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17BD4-5C8E-4C8E-919C-B22DB250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04 / FUNCIONAMENTO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9B962-A2B2-4FF7-8D81-A23722B2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Da matéria-prima ao conteúdo compartilhado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379D14-23F4-4425-9078-8BD0ACBF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0C167-6F2D-4BB2-B1AD-B81E6E75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08198"/>
                </a:solidFill>
                <a:latin typeface="Arial"/>
                <a:ea typeface="Arial"/>
                <a:cs typeface="Arial"/>
              </a:rPr>
              <a:t>MARATONA TECH 2026  •  ENSINO MÉDIO / N3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5F0E0B-ED2C-4348-A19D-03234B31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1687C-1110-404E-9EA7-5EFE48D8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409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75FF2-239B-4929-9F17-C50599D8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2495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ED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674FEE-D613-4239-B263-7DCCD9A8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514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Dados disponíveis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1469D-CC2F-4401-AA21-98EA19C6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514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0AEC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0AEC0"/>
                </a:solidFill>
                <a:latin typeface="Arial"/>
                <a:ea typeface="Arial"/>
                <a:cs typeface="Arial"/>
              </a:rPr>
              <a:t>Imagens, voz e vídeos podem compor o rastro digital.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E4150C-0DB4-42B6-BB37-2458EE6D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14650"/>
            <a:ext cx="247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355CF9-CFC0-41C2-8D62-BE84F989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09825"/>
            <a:ext cx="409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387A46-E5ED-4058-AB47-615435DB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00350"/>
            <a:ext cx="2495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ED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DFE96D-23A7-445B-8DE9-896C90D1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00375"/>
            <a:ext cx="2514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Alteração com 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8A47A1-9508-49D4-A3AA-002CE4E1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486150"/>
            <a:ext cx="2514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0AEC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0AEC0"/>
                </a:solidFill>
                <a:latin typeface="Arial"/>
                <a:ea typeface="Arial"/>
                <a:cs typeface="Arial"/>
              </a:rPr>
              <a:t>Um modelo gera ou modifica elementos audiovisuais.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DE29F8-9C47-4028-8F6E-5D09AFD1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14650"/>
            <a:ext cx="247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94E6D2-0077-4DFE-A516-3A89EDAD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09825"/>
            <a:ext cx="409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99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799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8716BD-94FA-4B5F-AA73-9329E8A8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00350"/>
            <a:ext cx="2495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9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C3B443-2835-4C88-8CC5-08F88469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00375"/>
            <a:ext cx="2514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Publicação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43AFF8-6689-440E-92F0-5CA53532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86150"/>
            <a:ext cx="2514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0AEC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0AEC0"/>
                </a:solidFill>
                <a:latin typeface="Arial"/>
                <a:ea typeface="Arial"/>
                <a:cs typeface="Arial"/>
              </a:rPr>
              <a:t>Legenda e contexto influenciam a interpretação.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AEE6F6-15BF-4701-A615-6C11E627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14650"/>
            <a:ext cx="247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62FE3C-AFB8-42AB-871A-7A956667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09825"/>
            <a:ext cx="409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889610-04CD-4CEF-9365-786AEEEE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00350"/>
            <a:ext cx="2495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ED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5D950B-16DA-41E5-B852-6959299D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00375"/>
            <a:ext cx="2514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Circulação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A3F91C-1CFE-4405-8600-B4BDFFB4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86150"/>
            <a:ext cx="2514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0AEC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0AEC0"/>
                </a:solidFill>
                <a:latin typeface="Arial"/>
                <a:ea typeface="Arial"/>
                <a:cs typeface="Arial"/>
              </a:rPr>
              <a:t>Repasses e recomendações podem ampliar a audiência.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293C1B-B1F4-44C0-AF48-7B0B5EA6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54619B-DADB-4CE9-B651-97FB4A97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DF36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DF36F"/>
                </a:solidFill>
                <a:latin typeface="Arial"/>
                <a:ea typeface="Arial"/>
                <a:cs typeface="Arial"/>
              </a:rPr>
              <a:t>A circulação pode ser rápida; por isso, a checagem precisa vir antes do compartilhamento.</a:t>
            </a:r>
          </a:p>
        </p:txBody>
      </p:sp>
    </p:spTree>
    <p:extLst>
      <p:ext uri="{BB962C8B-B14F-4D97-AF65-F5344CB8AC3E}">
        <p14:creationId xmlns:p14="http://schemas.microsoft.com/office/powerpoint/2010/main" val="9551551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3AF105-AA5E-4775-87C1-90FD9337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VERIFICA.AI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DDFBCF-20B7-463C-91AF-31E54FB2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05 / RELATÓRIO TÉCNICO • CAUSA-RAIZ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575163-D7FA-46F5-BC18-F232AE1D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A causa não é só a existência da 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E649F7-EB25-449E-B855-CB201386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0DD769-3934-438D-9973-F1DC4778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08198"/>
                </a:solidFill>
                <a:latin typeface="Arial"/>
                <a:ea typeface="Arial"/>
                <a:cs typeface="Arial"/>
              </a:rPr>
              <a:t>MARATONA TECH 2026  •  ENSINO MÉDIO / N3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D980E-F9BB-4952-9C33-67F3A277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80455-B7E2-4D76-9BA8-6D0F9C63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99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7994"/>
                </a:solidFill>
                <a:latin typeface="Arial"/>
                <a:ea typeface="Arial"/>
                <a:cs typeface="Arial"/>
              </a:rPr>
              <a:t>CAUSA-RAIZ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69B952-A1FC-4544-90FA-2E74EF62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001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Conteúdo convincente pode circular sem origem clara e sem verificação antes do repasse.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70C463-C0E9-4EDB-B515-50B6CC81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BB8F9E-EFEF-46EE-AC8E-1096A77C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TECNOLOGIA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32DA3B-60CE-45A8-8450-30A5820D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3143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0AEC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0AEC0"/>
                </a:solidFill>
                <a:latin typeface="Arial"/>
                <a:ea typeface="Arial"/>
                <a:cs typeface="Arial"/>
              </a:rPr>
              <a:t>Ferramentas facilitam criar ou alterar mídia realista.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9967D0-42BE-4B6D-BE33-6C19D751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010025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285C01-E1FC-425A-9DF2-DD84C5AB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290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99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7994"/>
                </a:solidFill>
                <a:latin typeface="Arial"/>
                <a:ea typeface="Arial"/>
                <a:cs typeface="Arial"/>
              </a:rPr>
              <a:t>CONTEXTO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013F70-4F14-44F7-AFE1-F870A50A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324350"/>
            <a:ext cx="3143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0AEC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0AEC0"/>
                </a:solidFill>
                <a:latin typeface="Arial"/>
                <a:ea typeface="Arial"/>
                <a:cs typeface="Arial"/>
              </a:rPr>
              <a:t>A publicação pode omitir autoria, data ou aviso de síntese.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8EAADE-E5BA-4872-9C8F-0522C68E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010025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27D585-B3FB-46EC-BF4A-37CB875C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290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HÁBITO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07E3BC-71F8-409D-8D7B-50C953AE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24350"/>
            <a:ext cx="3143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0AEC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0AEC0"/>
                </a:solidFill>
                <a:latin typeface="Arial"/>
                <a:ea typeface="Arial"/>
                <a:cs typeface="Arial"/>
              </a:rPr>
              <a:t>Pressa e compartilhamento impulsivo reduzem a checagem.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D62422-79E0-4060-AEE4-A1157A73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DF3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DF36F"/>
                </a:solidFill>
                <a:latin typeface="Arial"/>
                <a:ea typeface="Arial"/>
                <a:cs typeface="Arial"/>
              </a:rPr>
              <a:t>Recomendadores podem contribuir para o alcance, mas não são a causa isolada.</a:t>
            </a:r>
          </a:p>
        </p:txBody>
      </p:sp>
    </p:spTree>
    <p:extLst>
      <p:ext uri="{BB962C8B-B14F-4D97-AF65-F5344CB8AC3E}">
        <p14:creationId xmlns:p14="http://schemas.microsoft.com/office/powerpoint/2010/main" val="7356246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DDB6DB-9C5C-4718-99EF-CD04E70C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VERIFICA.AI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AFC0B8-AE21-48B5-9992-72EEF8F4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06 / DADOS E RASTRO DIGITAL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71C07-D089-497B-AC23-F03834DC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Imagem e voz também pedem cuidado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B0B878-76B1-4C78-B432-FF40202B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C62B5-5E2B-4475-9616-E18094E7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08198"/>
                </a:solidFill>
                <a:latin typeface="Arial"/>
                <a:ea typeface="Arial"/>
                <a:cs typeface="Arial"/>
              </a:rPr>
              <a:t>MARATONA TECH 2026  •  ENSINO MÉDIO / N3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45E0E-73B8-41CD-B9A8-B377DD08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6FC8E8-40D7-4081-B854-2DA74B16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FOTOS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1D03F-8726-4C1E-AEB6-F3094363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526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99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7994"/>
                </a:solidFill>
                <a:latin typeface="Arial"/>
                <a:ea typeface="Arial"/>
                <a:cs typeface="Arial"/>
              </a:rPr>
              <a:t>VÍDEOS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780C55-FD85-4188-B485-8C2E311D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526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DF36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DF36F"/>
                </a:solidFill>
                <a:latin typeface="Arial"/>
                <a:ea typeface="Arial"/>
                <a:cs typeface="Arial"/>
              </a:rPr>
              <a:t>ÁUDIOS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A56076-C86A-456F-B569-C6EEA7B5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466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Quando permitem identificar alguém, esses registros podem ser dados pessoais.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E2122D-1A58-4E29-9698-2A585B3A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0AEC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0AEC0"/>
                </a:solidFill>
                <a:latin typeface="Arial"/>
                <a:ea typeface="Arial"/>
                <a:cs typeface="Arial"/>
              </a:rPr>
              <a:t>Publicar em perfil aberto não significa consentir com qualquer reutilização.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630F92-7BB6-46D5-AE0E-6574365F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286000"/>
            <a:ext cx="190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008CFA-5B29-48A7-A62D-BA2E9BBA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52675"/>
            <a:ext cx="461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RASTRO DIGITAL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0B2040-A0B0-400A-96F1-457C8229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461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Publicações • cópias • repostagens • gravações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B91B42-6792-46B1-AE1F-F3E58B65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76600"/>
            <a:ext cx="4619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0AEC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0AEC0"/>
                </a:solidFill>
                <a:latin typeface="Arial"/>
                <a:ea typeface="Arial"/>
                <a:cs typeface="Arial"/>
              </a:rPr>
              <a:t>Quanto mais registros circulam, mais importante é cuidar da privacidade e da autorização de uso.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E33121-867D-413F-A980-6AA4561A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81475"/>
            <a:ext cx="4429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1C9712-1131-4EE0-A820-5B7B2DB0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71975"/>
            <a:ext cx="4495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DF36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DF36F"/>
                </a:solidFill>
                <a:latin typeface="Arial"/>
                <a:ea typeface="Arial"/>
                <a:cs typeface="Arial"/>
              </a:rPr>
              <a:t>Nuance: fotos e áudios identificáveis são dados pessoais; biometria vinculada a alguém tem proteção especial na LGPD.</a:t>
            </a:r>
          </a:p>
        </p:txBody>
      </p:sp>
    </p:spTree>
    <p:extLst>
      <p:ext uri="{BB962C8B-B14F-4D97-AF65-F5344CB8AC3E}">
        <p14:creationId xmlns:p14="http://schemas.microsoft.com/office/powerpoint/2010/main" val="14438460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5292D1-E0BC-4D7B-81C2-5322827D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VERIFICA.AI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0A695-7C37-46B8-8108-CDB5FB3C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07 / ALGORITMOS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C98F5-51BE-4B70-A3FA-18907B25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Recomendação organiza o feed; não verifica a verdade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451B0-3864-4110-A729-D0357DAD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900A7D-6DDA-4986-8617-6535D995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08198"/>
                </a:solidFill>
                <a:latin typeface="Arial"/>
                <a:ea typeface="Arial"/>
                <a:cs typeface="Arial"/>
              </a:rPr>
              <a:t>MARATONA TECH 2026  •  ENSINO MÉDIO / N3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4414D-F115-4DBF-A3DC-2E52CA7B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4686C9-86C1-4E9D-9688-C3713788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Sinais de interesse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A21BF-6F39-41F5-80B8-9CC2DCB4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5812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3DB8C7-9343-4430-8FBF-BEEF76EF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57175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Seleção de conteúdo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1542A-7BD3-4B2B-B0B3-F4C6F3F6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5812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FD6E71-E417-424B-A853-BE8E8B49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7175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Feed personalizado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A0A75C-EF8E-45BA-9E1A-ADEF87C9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5812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799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799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AA2FEC-B29D-4819-BA70-70F79C26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799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7994"/>
                </a:solidFill>
                <a:latin typeface="Arial"/>
                <a:ea typeface="Arial"/>
                <a:cs typeface="Arial"/>
              </a:rPr>
              <a:t>Mais exposição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F18DDC-9976-46D8-A693-12EF5239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28975"/>
            <a:ext cx="1022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505B00-7713-4B0D-827E-314133A5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45434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PODE FAZER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59D747-4A02-4C3E-A3DD-9979106E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45434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B"/>
                </a:solidFill>
                <a:latin typeface="Arial"/>
                <a:ea typeface="Arial"/>
                <a:cs typeface="Arial"/>
              </a:rPr>
              <a:t>Personalizar a ordem e a recomendação a partir de sinais de interesse.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58A207-E330-48DA-BDB2-A5EACBB7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562350"/>
            <a:ext cx="45815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99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7994"/>
                </a:solidFill>
                <a:latin typeface="Arial"/>
                <a:ea typeface="Arial"/>
                <a:cs typeface="Arial"/>
              </a:rPr>
              <a:t>NÃO FAZ POR SI SÓ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B10FDC-58AA-4D56-A87C-99818FA4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838575"/>
            <a:ext cx="45815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B"/>
                </a:solidFill>
                <a:latin typeface="Arial"/>
                <a:ea typeface="Arial"/>
                <a:cs typeface="Arial"/>
              </a:rPr>
              <a:t>Confirmar autoria, provar veracidade ou substituir a checagem humana.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909DFE-77DC-4D49-84AA-7CABCF43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23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DF36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DF36F"/>
                </a:solidFill>
                <a:latin typeface="Arial"/>
                <a:ea typeface="Arial"/>
                <a:cs typeface="Arial"/>
              </a:rPr>
              <a:t>A notícia do TSE não mede o efeito do algoritmo sobre o alcance daquele vídeo.</a:t>
            </a:r>
          </a:p>
        </p:txBody>
      </p:sp>
    </p:spTree>
    <p:extLst>
      <p:ext uri="{BB962C8B-B14F-4D97-AF65-F5344CB8AC3E}">
        <p14:creationId xmlns:p14="http://schemas.microsoft.com/office/powerpoint/2010/main" val="18584625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686764-8E2D-4D09-82DC-B345FF83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VERIFICA.AI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32E72-7D6A-4113-B6B9-4689176B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08 / DIAGNÓSTICO DOS RISCOS SOCIAIS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406C26-29F0-4F30-A3ED-4620ACF4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O impacto vai além de uma tela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FE2568-BBBD-4C73-A048-9C705BDF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7F2A46-9A03-446E-92CB-1149A8AA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08198"/>
                </a:solidFill>
                <a:latin typeface="Arial"/>
                <a:ea typeface="Arial"/>
                <a:cs typeface="Arial"/>
              </a:rPr>
              <a:t>MARATONA TECH 2026  •  ENSINO MÉDIO / N3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33B1AC-F7E7-43E8-B24B-17A3168F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94758C-C453-4CBB-9705-E9880E42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1D8ECE-7203-4D86-957B-642BA19B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362200"/>
            <a:ext cx="414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INFORMACIONAL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5888AD-5C4C-48A9-B9F6-E60FD547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686050"/>
            <a:ext cx="42576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7FB"/>
                </a:solidFill>
                <a:latin typeface="Arial"/>
                <a:ea typeface="Arial"/>
                <a:cs typeface="Arial"/>
              </a:rPr>
              <a:t>Uma fala falsa pode ser tomada como registro verdadeiro.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7864DA-3D01-493B-BF8D-9AD2FECC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67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936E41-D6A4-4503-92D7-6080CB58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622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99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799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783783-F3B4-4683-B7E1-C9C83D98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362200"/>
            <a:ext cx="414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99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7994"/>
                </a:solidFill>
                <a:latin typeface="Arial"/>
                <a:ea typeface="Arial"/>
                <a:cs typeface="Arial"/>
              </a:rPr>
              <a:t>REPUTAÇÃO E BEM-ESTAR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E5EA45-4896-4431-986F-A0C04CA3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686050"/>
            <a:ext cx="42576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7FB"/>
                </a:solidFill>
                <a:latin typeface="Arial"/>
                <a:ea typeface="Arial"/>
                <a:cs typeface="Arial"/>
              </a:rPr>
              <a:t>A pessoa retratada pode sofrer exposição ou desconfiança.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4CBCDC-43E0-41A0-9726-0EF7C01B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9567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211CDD-D3E4-4205-8E15-0AFEC556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DF36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DF36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59F161-D98C-42F6-97A2-AE9FA271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857625"/>
            <a:ext cx="414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DF36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DF36F"/>
                </a:solidFill>
                <a:latin typeface="Arial"/>
                <a:ea typeface="Arial"/>
                <a:cs typeface="Arial"/>
              </a:rPr>
              <a:t>ECONÔMICO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1FD0AE-4B92-4590-8284-FAE58A91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181475"/>
            <a:ext cx="42576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7FB"/>
                </a:solidFill>
                <a:latin typeface="Arial"/>
                <a:ea typeface="Arial"/>
                <a:cs typeface="Arial"/>
              </a:rPr>
              <a:t>Imagem ou voz clonada pode dar credibilidade a fraudes.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B5B69D-5C9C-413E-BD0A-A8D74C72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E9CFE9-368D-4392-8FCF-B754C653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03E2F7-7569-4D26-AA99-5313E01C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857625"/>
            <a:ext cx="414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COLETIVO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B6EF43-E753-4395-AFE9-E56AD6FF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181475"/>
            <a:ext cx="42576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7FB"/>
                </a:solidFill>
                <a:latin typeface="Arial"/>
                <a:ea typeface="Arial"/>
                <a:cs typeface="Arial"/>
              </a:rPr>
              <a:t>Conteúdo enganoso pode confundir o debate público.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795512-3F7A-4A2B-AED0-55F30F20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911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91C07A-1443-428C-AF7D-B3522FDF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0AEC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0AEC0"/>
                </a:solidFill>
                <a:latin typeface="Arial"/>
                <a:ea typeface="Arial"/>
                <a:cs typeface="Arial"/>
              </a:rPr>
              <a:t>A ANPD destaca riscos de fraude, violência digital e desinformação eleitoral no Brasil.</a:t>
            </a:r>
          </a:p>
        </p:txBody>
      </p:sp>
    </p:spTree>
    <p:extLst>
      <p:ext uri="{BB962C8B-B14F-4D97-AF65-F5344CB8AC3E}">
        <p14:creationId xmlns:p14="http://schemas.microsoft.com/office/powerpoint/2010/main" val="17147634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73B324-1425-4B90-A0A8-56E30A05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VERIFICA.AI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400DD-EA4C-4F59-BDA4-45C6BAC8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09 / PERFIL PROFISSIONAL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1A290E-3937-48C3-A3C7-A92D0523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Engenharia de software pode apoiar a verificação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833FD-6A21-468E-A145-A404C7FD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96622-F383-446F-9B6F-8BF04000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08198"/>
                </a:solidFill>
                <a:latin typeface="Arial"/>
                <a:ea typeface="Arial"/>
                <a:cs typeface="Arial"/>
              </a:rPr>
              <a:t>MARATONA TECH 2026  •  ENSINO MÉDIO / N3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89224C-3208-4B16-A8CD-E68390AB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7F16AA-8238-4FC2-BD5C-1C201458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986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A contribuição não é prometer um detector infalível: é criar ferramentas transparentes e responsáveis.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3A0A52-85F8-476E-98D0-58F87831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A20B66-9CE5-4278-9BA5-397BE345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314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PROCEDÊNCIA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3A70A-416A-49E9-86BF-AF8D540C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0AEC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0AEC0"/>
                </a:solidFill>
                <a:latin typeface="Arial"/>
                <a:ea typeface="Arial"/>
                <a:cs typeface="Arial"/>
              </a:rPr>
              <a:t>Ajudar a localizar fonte original e preservar contexto.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9C2439-4FFC-4177-857F-02EF4B0F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562350"/>
            <a:ext cx="95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905A04-5CC8-42C8-BB44-C29C7211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81400"/>
            <a:ext cx="314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99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7994"/>
                </a:solidFill>
                <a:latin typeface="Arial"/>
                <a:ea typeface="Arial"/>
                <a:cs typeface="Arial"/>
              </a:rPr>
              <a:t>TRANSPARÊNCIA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EEBE4B-DB75-41BD-BA3B-71ADD98D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052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0AEC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0AEC0"/>
                </a:solidFill>
                <a:latin typeface="Arial"/>
                <a:ea typeface="Arial"/>
                <a:cs typeface="Arial"/>
              </a:rPr>
              <a:t>Mostrar limites e incertezas do sistema.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A383E1-CB9A-4732-935A-1F864ED2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562350"/>
            <a:ext cx="95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412C2D-AC69-43E1-9B65-45BDBC62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81400"/>
            <a:ext cx="314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DF36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DF36F"/>
                </a:solidFill>
                <a:latin typeface="Arial"/>
                <a:ea typeface="Arial"/>
                <a:cs typeface="Arial"/>
              </a:rPr>
              <a:t>PRIVACIDADE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53DAF0-C704-4EDC-977A-6E63C948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052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0AEC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0AEC0"/>
                </a:solidFill>
                <a:latin typeface="Arial"/>
                <a:ea typeface="Arial"/>
                <a:cs typeface="Arial"/>
              </a:rPr>
              <a:t>Evitar recolher imagem e voz sem necessidade.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6351C8-AAAE-4126-857A-7DB78B60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DF3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DF36F"/>
                </a:solidFill>
                <a:latin typeface="Arial"/>
                <a:ea typeface="Arial"/>
                <a:cs typeface="Arial"/>
              </a:rPr>
              <a:t>O Verifica.AI é um protótipo educativo; não analisa arquivos nem classifica vídeos.</a:t>
            </a:r>
          </a:p>
        </p:txBody>
      </p:sp>
    </p:spTree>
    <p:extLst>
      <p:ext uri="{BB962C8B-B14F-4D97-AF65-F5344CB8AC3E}">
        <p14:creationId xmlns:p14="http://schemas.microsoft.com/office/powerpoint/2010/main" val="9780102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3E6F29-C080-4626-A0BA-C0F8A4B9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VERIFICA.AI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B1C41-3B65-4A9E-BAA5-2DFB4D88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10 / GUIA DE ANÁLISE E RECOMENDAÇÕES PÚBLICAS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67EF5-E59F-4638-9AAF-490E41FB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PARE. VERIFIQUE. PENSE. CONTEXTUALIZE.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0D3BD-36D8-4DBB-AE19-A151FDEC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8D3CB5-21A0-4993-9A6F-778F9D19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08198"/>
                </a:solidFill>
                <a:latin typeface="Arial"/>
                <a:ea typeface="Arial"/>
                <a:cs typeface="Arial"/>
              </a:rPr>
              <a:t>MARATONA TECH 2026  •  ENSINO MÉDIO / N3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14A27B-AB3F-4CC5-B88B-BD3F31AC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7C39EE-A858-48C2-96C5-C24B9E36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99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799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95FE86-E53E-4740-9CC9-06F282F6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99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7994"/>
                </a:solidFill>
                <a:latin typeface="Arial"/>
                <a:ea typeface="Arial"/>
                <a:cs typeface="Arial"/>
              </a:rPr>
              <a:t>PARE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B30802-DA6D-4A4F-AACA-4E7F0515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2400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7FB"/>
                </a:solidFill>
                <a:latin typeface="Arial"/>
                <a:ea typeface="Arial"/>
                <a:cs typeface="Arial"/>
              </a:rPr>
              <a:t>Não repasse por impulso.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698DF3-1AC6-4948-BD08-35A3A27D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381250"/>
            <a:ext cx="95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B0668-0A10-4060-9C17-B45A2026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90775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F72A0E-CA71-4BE1-9A92-780838F4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717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VERIFIQUE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17111C-D474-4F8A-97B5-207BB2B0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00400"/>
            <a:ext cx="2400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7FB"/>
                </a:solidFill>
                <a:latin typeface="Arial"/>
                <a:ea typeface="Arial"/>
                <a:cs typeface="Arial"/>
              </a:rPr>
              <a:t>Encontre a publicação original.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C44722-2C09-4211-99AC-1E119FF0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381250"/>
            <a:ext cx="95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F8EBC2-793D-4C0C-A312-9A9AE288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90775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DF3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DF36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786462-A6C6-4815-9FA8-F861AFE0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717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DF36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DF36F"/>
                </a:solidFill>
                <a:latin typeface="Arial"/>
                <a:ea typeface="Arial"/>
                <a:cs typeface="Arial"/>
              </a:rPr>
              <a:t>PENSE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C3F5E7-6934-4C16-B016-B4B49920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00400"/>
            <a:ext cx="2400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7FB"/>
                </a:solidFill>
                <a:latin typeface="Arial"/>
                <a:ea typeface="Arial"/>
                <a:cs typeface="Arial"/>
              </a:rPr>
              <a:t>Compare data, contexto e fontes.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FA7BE3-12C1-4B76-9E0C-EF4DF879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381250"/>
            <a:ext cx="95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F24A16-F44C-4EEC-9E68-4EE5E149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90775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532E79-2B7F-44EE-919E-E7392162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717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CONTEXTUALIZE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C65F93-449D-456C-B901-6785007E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00400"/>
            <a:ext cx="2400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7FB"/>
                </a:solidFill>
                <a:latin typeface="Arial"/>
                <a:ea typeface="Arial"/>
                <a:cs typeface="Arial"/>
              </a:rPr>
              <a:t>Só compartilhe com confirmação.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164FEE-FDE5-4BED-A0D9-01A1F9FD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FC49D8-8938-40BA-B2C2-4B4837BA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3190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NA ESCOLA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120D7A-32DD-42F5-A46C-2723F2C9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319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B"/>
                </a:solidFill>
                <a:latin typeface="Arial"/>
                <a:ea typeface="Arial"/>
                <a:cs typeface="Arial"/>
              </a:rPr>
              <a:t>Usem exemplos identificados e conversem sobre contexto.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599D57-0DED-4773-BE88-8788AE4D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400550"/>
            <a:ext cx="3190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99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7994"/>
                </a:solidFill>
                <a:latin typeface="Arial"/>
                <a:ea typeface="Arial"/>
                <a:cs typeface="Arial"/>
              </a:rPr>
              <a:t>NAS PLATAFORMAS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5E56B4-FC48-42AA-95D0-98E04E3C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676775"/>
            <a:ext cx="319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B"/>
                </a:solidFill>
                <a:latin typeface="Arial"/>
                <a:ea typeface="Arial"/>
                <a:cs typeface="Arial"/>
              </a:rPr>
              <a:t>Peçam transparência, origem e canais de denúncia.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19325A-86F9-4C6C-B1A6-DF9906EB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00550"/>
            <a:ext cx="3171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DF36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DF36F"/>
                </a:solidFill>
                <a:latin typeface="Arial"/>
                <a:ea typeface="Arial"/>
                <a:cs typeface="Arial"/>
              </a:rPr>
              <a:t>SE ALGUÉM FOR PREJUDICADO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8CEA90-0C39-4E5D-B992-96CACA7B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76775"/>
            <a:ext cx="31718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B"/>
                </a:solidFill>
                <a:latin typeface="Arial"/>
                <a:ea typeface="Arial"/>
                <a:cs typeface="Arial"/>
              </a:rPr>
              <a:t>Guardem evidências, denunciem e busquem apoio.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01181B-46BD-4BB7-9A2E-FC8BB000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0AEC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0AEC0"/>
                </a:solidFill>
                <a:latin typeface="Arial"/>
                <a:ea typeface="Arial"/>
                <a:cs typeface="Arial"/>
              </a:rPr>
              <a:t>Um sinal estranho pede checagem; sozinho, não prova manipulação.</a:t>
            </a:r>
          </a:p>
        </p:txBody>
      </p:sp>
    </p:spTree>
    <p:extLst>
      <p:ext uri="{BB962C8B-B14F-4D97-AF65-F5344CB8AC3E}">
        <p14:creationId xmlns:p14="http://schemas.microsoft.com/office/powerpoint/2010/main" val="18858407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72ED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9F7ED6-A71D-4C12-B7F8-C9A23C21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182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1821"/>
                </a:solidFill>
                <a:latin typeface="Arial"/>
                <a:ea typeface="Arial"/>
                <a:cs typeface="Arial"/>
              </a:rPr>
              <a:t>VERIFICA.AI  /  CAMPANHA DIGITAL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C32B9-7F45-4F84-8EE8-38BCB14E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73818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A182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A1821"/>
                </a:solidFill>
                <a:latin typeface="Arial"/>
                <a:ea typeface="Arial"/>
                <a:cs typeface="Arial"/>
              </a:rPr>
              <a:t>NEM TUDO QUE</a:t>
            </a:r>
          </a:p>
          <a:p xmlns:a="http://schemas.openxmlformats.org/drawingml/2006/main">
            <a:pPr algn="l">
              <a:defRPr sz="4350" b="1">
                <a:solidFill>
                  <a:srgbClr val="0A182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A1821"/>
                </a:solidFill>
                <a:latin typeface="Arial"/>
                <a:ea typeface="Arial"/>
                <a:cs typeface="Arial"/>
              </a:rPr>
              <a:t>VOCÊ VÊ É REAL.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ACB3F-A6EF-4A38-9BBB-8717B1AC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652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D697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6970"/>
                </a:solidFill>
                <a:latin typeface="Arial"/>
                <a:ea typeface="Arial"/>
                <a:cs typeface="Arial"/>
              </a:rPr>
              <a:t>Antes de compartilhar, confira.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DAF85-902F-4DD8-91EA-771F97A7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9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47F03-D900-4F40-BBA8-DAFFC6D5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523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69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69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FE624-EA25-4E2C-AD70-B745F580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182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A1821"/>
                </a:solidFill>
                <a:latin typeface="Arial"/>
                <a:ea typeface="Arial"/>
                <a:cs typeface="Arial"/>
              </a:rPr>
              <a:t>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83414C-0103-4DD6-BCD5-AEC1865A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86200"/>
            <a:ext cx="523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69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69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E4263E-EE02-4868-9CA8-5CA5AE37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957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182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A1821"/>
                </a:solidFill>
                <a:latin typeface="Arial"/>
                <a:ea typeface="Arial"/>
                <a:cs typeface="Arial"/>
              </a:rPr>
              <a:t>VERIFIQUE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F5A0AF-F520-42DF-B261-13810663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86200"/>
            <a:ext cx="523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69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69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B6EF8-3D57-434E-BF78-E819A734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2957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182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A1821"/>
                </a:solidFill>
                <a:latin typeface="Arial"/>
                <a:ea typeface="Arial"/>
                <a:cs typeface="Arial"/>
              </a:rPr>
              <a:t>PENSE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47C8B6-C376-4D60-9253-1DFDDAD8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86200"/>
            <a:ext cx="523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69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69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D0B1A1-AAD9-4E26-838F-CC306042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957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182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A1821"/>
                </a:solidFill>
                <a:latin typeface="Arial"/>
                <a:ea typeface="Arial"/>
                <a:cs typeface="Arial"/>
              </a:rPr>
              <a:t>COMPARTILHE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9B009C-B56B-4CC0-BDFC-47352460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182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A1821"/>
                </a:solidFill>
                <a:latin typeface="Arial"/>
                <a:ea typeface="Arial"/>
                <a:cs typeface="Arial"/>
              </a:rPr>
              <a:t>VERIFICA.AI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2D632A-3E22-4352-978D-1B9F973B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823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424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424A"/>
                </a:solidFill>
                <a:latin typeface="Arial"/>
                <a:ea typeface="Arial"/>
                <a:cs typeface="Arial"/>
              </a:rPr>
              <a:t>Protótipo educativo: guia de checagem + desafio “Real ou IA?”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DB59A2-2FD1-484D-A971-CB3CA733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48375"/>
            <a:ext cx="6667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515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515A"/>
                </a:solidFill>
                <a:latin typeface="Arial"/>
                <a:ea typeface="Arial"/>
                <a:cs typeface="Arial"/>
              </a:rPr>
              <a:t>NÃO É UM DETECTOR DE DEEPFAKES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1F744B-B2C0-4AF9-ACED-88E73D0C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048375"/>
            <a:ext cx="3200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4515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15A"/>
                </a:solidFill>
                <a:latin typeface="Arial"/>
                <a:ea typeface="Arial"/>
                <a:cs typeface="Arial"/>
              </a:rPr>
              <a:t>MARATONA TECH 2026  •  3º ANO D</a:t>
            </a:r>
          </a:p>
        </p:txBody>
      </p:sp>
    </p:spTree>
    <p:extLst>
      <p:ext uri="{BB962C8B-B14F-4D97-AF65-F5344CB8AC3E}">
        <p14:creationId xmlns:p14="http://schemas.microsoft.com/office/powerpoint/2010/main" val="19578525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9E551E-F275-42E3-AF4D-774B967A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VERIFICA.AI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27786-B481-4318-A7BA-49965D6E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11 / CONCLUSÃO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1B6BF-AB1C-4A91-8EA0-300FFFAC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A confiança começa antes do compartilhamento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3CD1A-2BD2-4E35-AF4F-8DBF434A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C5D0F6-D9DB-4C85-A5B0-EF18FB26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08198"/>
                </a:solidFill>
                <a:latin typeface="Arial"/>
                <a:ea typeface="Arial"/>
                <a:cs typeface="Arial"/>
              </a:rPr>
              <a:t>MARATONA TECH 2026  •  ENSINO MÉDIO / N3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92F4D7-58F0-4D41-A730-7CB9C0E6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AF220-BEC2-4E8D-9AE1-2F2656E5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A tecnologia pode fabricar aparência.</a:t>
            </a:r>
          </a:p>
          <a:p xmlns:a="http://schemas.openxmlformats.org/drawingml/2006/main">
            <a:pPr algn="l">
              <a:defRPr sz="232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A verificação recupera a origem e o contexto.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B3E40-B600-4C19-8C96-094D31D5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ED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02748-F10D-4A44-94FA-B3A4A940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O QUE APRENDEMOS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C60DE-3A8D-40F2-8B19-2A18D060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8143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0AEC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0AEC0"/>
                </a:solidFill>
                <a:latin typeface="Arial"/>
                <a:ea typeface="Arial"/>
                <a:cs typeface="Arial"/>
              </a:rPr>
              <a:t>Deepfakes envolvem dados, ferramentas, escolhas humanas e formas de circulação. Nenhum detalhe visual substitui uma boa checagem.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284430-86D7-4CD6-A780-C66FC9BC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904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DF36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DF36F"/>
                </a:solidFill>
                <a:latin typeface="Arial"/>
                <a:ea typeface="Arial"/>
                <a:cs typeface="Arial"/>
              </a:rPr>
              <a:t>Antes de compartilhar, verifique.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CD0929-D6E8-46E5-B147-5B4693D6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Obrigado. Perguntas?</a:t>
            </a:r>
          </a:p>
        </p:txBody>
      </p:sp>
    </p:spTree>
    <p:extLst>
      <p:ext uri="{BB962C8B-B14F-4D97-AF65-F5344CB8AC3E}">
        <p14:creationId xmlns:p14="http://schemas.microsoft.com/office/powerpoint/2010/main" val="15858157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CB0AA6-E64D-430A-BC5D-302D49E9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VERIFICA.AI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ADFCA-6C2F-4CBC-8A08-6572ADFB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12 / REFERÊNCIAS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4AC3B-B4A2-48AA-8484-5B157490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Fontes para continuar a investigação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97194-40CA-4222-A773-F7946153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4804EB-92FC-4A23-A99B-7A29DEF4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08198"/>
                </a:solidFill>
                <a:latin typeface="Arial"/>
                <a:ea typeface="Arial"/>
                <a:cs typeface="Arial"/>
              </a:rPr>
              <a:t>MARATONA TECH 2026  •  ENSINO MÉDIO / N3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42D52-EFDF-420A-BE34-7A56A08F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7800AB-8B5F-4B98-A537-174467FF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381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ED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FAB91-2354-446E-ADE9-E343D707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495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ANPD · Radar Tecnológico nº 6: Deepfakes (2026)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646EE3-A089-4035-AA69-80AFA02A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62225"/>
            <a:ext cx="490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0AE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0AEC0"/>
                </a:solidFill>
                <a:latin typeface="Arial"/>
                <a:ea typeface="Arial"/>
                <a:cs typeface="Arial"/>
              </a:rPr>
              <a:t>Definição, funcionamento, proteção de dados e riscos.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6479A-E3E7-4094-96F6-7DAB78E1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381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9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BC2F5D-F27A-4F29-86E0-A1ABE1CA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495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TSE · Tese sobre deepfake e Eleições 2026 (set. 2026)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069B69-FF42-4D27-A735-7DB849C5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490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0AE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0AEC0"/>
                </a:solidFill>
                <a:latin typeface="Arial"/>
                <a:ea typeface="Arial"/>
                <a:cs typeface="Arial"/>
              </a:rPr>
              <a:t>Caso público, critérios jurídicos e contexto.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5E8C5C-09C4-4B75-9F3B-39937C6D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81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3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2E84A9-C398-477D-8A25-11FF45E8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05325"/>
            <a:ext cx="495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SECOM · Guia “Conhecendo os riscos”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A13C0B-BF17-4759-AEA0-8F09BCEF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29175"/>
            <a:ext cx="490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0AE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0AEC0"/>
                </a:solidFill>
                <a:latin typeface="Arial"/>
                <a:ea typeface="Arial"/>
                <a:cs typeface="Arial"/>
              </a:rPr>
              <a:t>IA generativa e recomendação de conteúdo.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F835C9-5FE1-46B3-847C-7E93A49D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28850"/>
            <a:ext cx="381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ED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BDEC31-86D7-4EFB-8047-A4C22530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238375"/>
            <a:ext cx="495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ANPD · Titular de Dados / Perguntas Frequentes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C6835-C07E-40C6-B213-F20790E9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562225"/>
            <a:ext cx="490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0AE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0AEC0"/>
                </a:solidFill>
                <a:latin typeface="Arial"/>
                <a:ea typeface="Arial"/>
                <a:cs typeface="Arial"/>
              </a:rPr>
              <a:t>Dado pessoal, aparência e biometria na LGPD.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56FCC1-D489-4EDE-BCFC-17271566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362325"/>
            <a:ext cx="381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9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1E5A0E-6F93-4D5B-8A26-C2476438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371850"/>
            <a:ext cx="495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Lei nº 13.709/2018 · LGPD, art. 5º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8E956F-0354-4F31-9DF4-03F10290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695700"/>
            <a:ext cx="490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0AE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0AEC0"/>
                </a:solidFill>
                <a:latin typeface="Arial"/>
                <a:ea typeface="Arial"/>
                <a:cs typeface="Arial"/>
              </a:rPr>
              <a:t>Definições legais de dado pessoal e sensível.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B22901-B32E-4B93-8C4F-32572AA2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495800"/>
            <a:ext cx="381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3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A2A964-4A6E-484E-B6AC-1EBD7C9E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505325"/>
            <a:ext cx="495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Maratona Tech 2026 · Material do Estudante, N3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B27642-453E-4749-AA0E-3C05CDCE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829175"/>
            <a:ext cx="490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0AE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0AEC0"/>
                </a:solidFill>
                <a:latin typeface="Arial"/>
                <a:ea typeface="Arial"/>
                <a:cs typeface="Arial"/>
              </a:rPr>
              <a:t>Requisitos do relatório e das recomendações.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E8928B-7309-4388-A8A9-03D54CE6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2EDD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2EDDF"/>
                </a:solidFill>
                <a:latin typeface="Arial"/>
                <a:ea typeface="Arial"/>
                <a:cs typeface="Arial"/>
              </a:rPr>
              <a:t>Links completos e roteiro de fala estão nas notas do apresentador.</a:t>
            </a:r>
          </a:p>
        </p:txBody>
      </p:sp>
    </p:spTree>
    <p:extLst>
      <p:ext uri="{BB962C8B-B14F-4D97-AF65-F5344CB8AC3E}">
        <p14:creationId xmlns:p14="http://schemas.microsoft.com/office/powerpoint/2010/main" val="7753487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2026-10-01T02:12:25.9820000Z</dcterms:created>
  <dcterms:modified xsi:type="dcterms:W3CDTF">2026-10-01T02:12:25.9820000Z</dcterms:modified>
</coreProperties>
</file>